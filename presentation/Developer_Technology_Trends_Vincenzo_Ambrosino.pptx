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9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2393cf6-ff16-024b-d4f7-6f077fb48e5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Results" id="{6ff99920-06cb-a977-c851-e26b230c9c61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ashboard" id="{abce5039-83f3-af85-cb2a-28cc5a977e2f}">
          <p14:sldIdLst>
            <p14:sldId id="269"/>
            <p14:sldId id="270"/>
            <p14:sldId id="271"/>
            <p14:sldId id="272"/>
          </p14:sldIdLst>
        </p14:section>
        <p14:section name="Discussion" id="{0deb839f-6cc6-ba62-8770-2ab6c69620f4}">
          <p14:sldIdLst>
            <p14:sldId id="273"/>
            <p14:sldId id="274"/>
            <p14:sldId id="275"/>
            <p14:sldId id="276"/>
          </p14:sldIdLst>
        </p14:section>
        <p14:section name="Appendix" id="{cd292858-e661-c8d6-8a7f-217fad453c94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Washington DC</c:v>
                  </c:pt>
                  <c:pt idx="1">
                    <c:v>Detroit</c:v>
                  </c:pt>
                  <c:pt idx="2">
                    <c:v>Seattle</c:v>
                  </c:pt>
                  <c:pt idx="3">
                    <c:v>New York</c:v>
                  </c:pt>
                  <c:pt idx="4">
                    <c:v>Los Angeles</c:v>
                  </c:pt>
                  <c:pt idx="5">
                    <c:v>San Francisco</c:v>
                  </c:pt>
                  <c:pt idx="6">
                    <c:v>Austin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5316</c:v>
                </c:pt>
                <c:pt idx="1">
                  <c:v>3945</c:v>
                </c:pt>
                <c:pt idx="2">
                  <c:v>3375</c:v>
                </c:pt>
                <c:pt idx="3">
                  <c:v>3226</c:v>
                </c:pt>
                <c:pt idx="4">
                  <c:v>640</c:v>
                </c:pt>
                <c:pt idx="5">
                  <c:v>435</c:v>
                </c:pt>
                <c:pt idx="6">
                  <c:v>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693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9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Swift</c:v>
                  </c:pt>
                  <c:pt idx="1">
                    <c:v>Python</c:v>
                  </c:pt>
                  <c:pt idx="2">
                    <c:v>C++</c:v>
                  </c:pt>
                  <c:pt idx="3">
                    <c:v>JavaScript</c:v>
                  </c:pt>
                  <c:pt idx="4">
                    <c:v>Java</c:v>
                  </c:pt>
                  <c:pt idx="5">
                    <c:v>Go</c:v>
                  </c:pt>
                  <c:pt idx="6">
                    <c:v>R</c:v>
                  </c:pt>
                  <c:pt idx="7">
                    <c:v>C#</c:v>
                  </c:pt>
                  <c:pt idx="8">
                    <c:v>SQL</c:v>
                  </c:pt>
                  <c:pt idx="9">
                    <c:v>PHP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130801</c:v>
                </c:pt>
                <c:pt idx="1">
                  <c:v>114383</c:v>
                </c:pt>
                <c:pt idx="2">
                  <c:v>113865</c:v>
                </c:pt>
                <c:pt idx="3">
                  <c:v>110981</c:v>
                </c:pt>
                <c:pt idx="4">
                  <c:v>101013</c:v>
                </c:pt>
                <c:pt idx="5">
                  <c:v>94082</c:v>
                </c:pt>
                <c:pt idx="6">
                  <c:v>92037</c:v>
                </c:pt>
                <c:pt idx="7">
                  <c:v>88726</c:v>
                </c:pt>
                <c:pt idx="8">
                  <c:v>84793</c:v>
                </c:pt>
                <c:pt idx="9">
                  <c:v>84727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150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JavaScript</c:v>
                  </c:pt>
                  <c:pt idx="1">
                    <c:v>SQL</c:v>
                  </c:pt>
                  <c:pt idx="2">
                    <c:v>HTML/CSS</c:v>
                  </c:pt>
                  <c:pt idx="3">
                    <c:v>TypeScript</c:v>
                  </c:pt>
                  <c:pt idx="4">
                    <c:v>Python</c:v>
                  </c:pt>
                  <c:pt idx="5">
                    <c:v>Bash/Shell</c:v>
                  </c:pt>
                  <c:pt idx="6">
                    <c:v>C#</c:v>
                  </c:pt>
                  <c:pt idx="7">
                    <c:v>Java</c:v>
                  </c:pt>
                  <c:pt idx="8">
                    <c:v>PHP</c:v>
                  </c:pt>
                  <c:pt idx="9">
                    <c:v>PowerShell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14943</c:v>
                </c:pt>
                <c:pt idx="1">
                  <c:v>12602</c:v>
                </c:pt>
                <c:pt idx="2">
                  <c:v>12410</c:v>
                </c:pt>
                <c:pt idx="3">
                  <c:v>10709</c:v>
                </c:pt>
                <c:pt idx="4">
                  <c:v>9590</c:v>
                </c:pt>
                <c:pt idx="5">
                  <c:v>7244</c:v>
                </c:pt>
                <c:pt idx="6">
                  <c:v>6340</c:v>
                </c:pt>
                <c:pt idx="7">
                  <c:v>5982</c:v>
                </c:pt>
                <c:pt idx="8">
                  <c:v>4644</c:v>
                </c:pt>
                <c:pt idx="9">
                  <c:v>3438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8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150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69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9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JavaScript</c:v>
                  </c:pt>
                  <c:pt idx="1">
                    <c:v>SQL</c:v>
                  </c:pt>
                  <c:pt idx="2">
                    <c:v>TypeScript</c:v>
                  </c:pt>
                  <c:pt idx="3">
                    <c:v>HTML/CSS</c:v>
                  </c:pt>
                  <c:pt idx="4">
                    <c:v>Python</c:v>
                  </c:pt>
                  <c:pt idx="5">
                    <c:v>Go</c:v>
                  </c:pt>
                  <c:pt idx="6">
                    <c:v>Rust</c:v>
                  </c:pt>
                  <c:pt idx="7">
                    <c:v>C#</c:v>
                  </c:pt>
                  <c:pt idx="8">
                    <c:v>Bash/Shell</c:v>
                  </c:pt>
                  <c:pt idx="9">
                    <c:v>Java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11541</c:v>
                </c:pt>
                <c:pt idx="1">
                  <c:v>10944</c:v>
                </c:pt>
                <c:pt idx="2">
                  <c:v>10437</c:v>
                </c:pt>
                <c:pt idx="3">
                  <c:v>10016</c:v>
                </c:pt>
                <c:pt idx="4">
                  <c:v>8919</c:v>
                </c:pt>
                <c:pt idx="5">
                  <c:v>5661</c:v>
                </c:pt>
                <c:pt idx="6">
                  <c:v>5597</c:v>
                </c:pt>
                <c:pt idx="7">
                  <c:v>5590</c:v>
                </c:pt>
                <c:pt idx="8">
                  <c:v>5582</c:v>
                </c:pt>
                <c:pt idx="9">
                  <c:v>4048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8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PostgreSQL</c:v>
                  </c:pt>
                  <c:pt idx="1">
                    <c:v>MySQL</c:v>
                  </c:pt>
                  <c:pt idx="2">
                    <c:v>SQLite</c:v>
                  </c:pt>
                  <c:pt idx="3">
                    <c:v>MongoDB</c:v>
                  </c:pt>
                  <c:pt idx="4">
                    <c:v>MS SQL Server</c:v>
                  </c:pt>
                  <c:pt idx="5">
                    <c:v>Redis</c:v>
                  </c:pt>
                  <c:pt idx="6">
                    <c:v>MariaDB</c:v>
                  </c:pt>
                  <c:pt idx="7">
                    <c:v>Elasticsearch</c:v>
                  </c:pt>
                  <c:pt idx="8">
                    <c:v>DynamoDB</c:v>
                  </c:pt>
                  <c:pt idx="9">
                    <c:v>Oracle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11514</c:v>
                </c:pt>
                <c:pt idx="1">
                  <c:v>8556</c:v>
                </c:pt>
                <c:pt idx="2">
                  <c:v>7021</c:v>
                </c:pt>
                <c:pt idx="3">
                  <c:v>5930</c:v>
                </c:pt>
                <c:pt idx="4">
                  <c:v>5870</c:v>
                </c:pt>
                <c:pt idx="5">
                  <c:v>5814</c:v>
                </c:pt>
                <c:pt idx="6">
                  <c:v>3994</c:v>
                </c:pt>
                <c:pt idx="7">
                  <c:v>3491</c:v>
                </c:pt>
                <c:pt idx="8">
                  <c:v>2268</c:v>
                </c:pt>
                <c:pt idx="9">
                  <c:v>1907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6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69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9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9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PostgreSQL</c:v>
                  </c:pt>
                  <c:pt idx="1">
                    <c:v>Redis</c:v>
                  </c:pt>
                  <c:pt idx="2">
                    <c:v>SQLite</c:v>
                  </c:pt>
                  <c:pt idx="3">
                    <c:v>MySQL</c:v>
                  </c:pt>
                  <c:pt idx="4">
                    <c:v>MongoDB</c:v>
                  </c:pt>
                  <c:pt idx="5">
                    <c:v>MS SQL Server</c:v>
                  </c:pt>
                  <c:pt idx="6">
                    <c:v>Elasticsearch</c:v>
                  </c:pt>
                  <c:pt idx="7">
                    <c:v>MariaDB</c:v>
                  </c:pt>
                  <c:pt idx="8">
                    <c:v>DynamoDB</c:v>
                  </c:pt>
                  <c:pt idx="9">
                    <c:v>Supabase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12193</c:v>
                </c:pt>
                <c:pt idx="1">
                  <c:v>6384</c:v>
                </c:pt>
                <c:pt idx="2">
                  <c:v>6295</c:v>
                </c:pt>
                <c:pt idx="3">
                  <c:v>6204</c:v>
                </c:pt>
                <c:pt idx="4">
                  <c:v>5618</c:v>
                </c:pt>
                <c:pt idx="5">
                  <c:v>4345</c:v>
                </c:pt>
                <c:pt idx="6">
                  <c:v>3665</c:v>
                </c:pt>
                <c:pt idx="7">
                  <c:v>3078</c:v>
                </c:pt>
                <c:pt idx="8">
                  <c:v>2154</c:v>
                </c:pt>
                <c:pt idx="9">
                  <c:v>1623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6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Germany</c:v>
                  </c:pt>
                  <c:pt idx="2">
                    <c:v>India</c:v>
                  </c:pt>
                  <c:pt idx="3">
                    <c:v>United Kingdom</c:v>
                  </c:pt>
                  <c:pt idx="4">
                    <c:v>Ukraine</c:v>
                  </c:pt>
                  <c:pt idx="5">
                    <c:v>Canada</c:v>
                  </c:pt>
                  <c:pt idx="6">
                    <c:v>France</c:v>
                  </c:pt>
                  <c:pt idx="7">
                    <c:v>Brazil</c:v>
                  </c:pt>
                  <c:pt idx="8">
                    <c:v>Poland</c:v>
                  </c:pt>
                  <c:pt idx="9">
                    <c:v>Netherlands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3441</c:v>
                </c:pt>
                <c:pt idx="1">
                  <c:v>1339</c:v>
                </c:pt>
                <c:pt idx="2">
                  <c:v>1316</c:v>
                </c:pt>
                <c:pt idx="3">
                  <c:v>1053</c:v>
                </c:pt>
                <c:pt idx="4">
                  <c:v>931</c:v>
                </c:pt>
                <c:pt idx="5">
                  <c:v>661</c:v>
                </c:pt>
                <c:pt idx="6">
                  <c:v>598</c:v>
                </c:pt>
                <c:pt idx="7">
                  <c:v>587</c:v>
                </c:pt>
                <c:pt idx="8">
                  <c:v>494</c:v>
                </c:pt>
                <c:pt idx="9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yearly compensation</c:v>
                </c:pt>
              </c:strCache>
            </c:strRef>
          </c:tx>
          <c:spPr>
            <a:solidFill>
              <a:srgbClr val="E8693A"/>
            </a:solidFill>
            <a:ln w="38100" cap="flat">
              <a:solidFill>
                <a:srgbClr val="E8693A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693A"/>
              </a:solidFill>
              <a:ln w="9525" cap="flat">
                <a:solidFill>
                  <a:srgbClr val="E869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Under 18</c:v>
                  </c:pt>
                  <c:pt idx="1">
                    <c:v>18-24</c:v>
                  </c:pt>
                  <c:pt idx="2">
                    <c:v>25-34</c:v>
                  </c:pt>
                  <c:pt idx="3">
                    <c:v>35-44</c:v>
                  </c:pt>
                  <c:pt idx="4">
                    <c:v>45-54</c:v>
                  </c:pt>
                  <c:pt idx="5">
                    <c:v>55-64</c:v>
                  </c:pt>
                  <c:pt idx="6">
                    <c:v>65+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7626.5</c:v>
                </c:pt>
                <c:pt idx="1">
                  <c:v>25000</c:v>
                </c:pt>
                <c:pt idx="2">
                  <c:v>59825</c:v>
                </c:pt>
                <c:pt idx="3">
                  <c:v>84796</c:v>
                </c:pt>
                <c:pt idx="4">
                  <c:v>99099</c:v>
                </c:pt>
                <c:pt idx="5">
                  <c:v>109691</c:v>
                </c:pt>
                <c:pt idx="6">
                  <c:v>106000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0"/>
          <c:min val="-1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1506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Canada</c:v>
                  </c:pt>
                  <c:pt idx="2">
                    <c:v>United Kingdom</c:v>
                  </c:pt>
                  <c:pt idx="3">
                    <c:v>Germany</c:v>
                  </c:pt>
                  <c:pt idx="4">
                    <c:v>Netherlands</c:v>
                  </c:pt>
                  <c:pt idx="5">
                    <c:v>Poland</c:v>
                  </c:pt>
                  <c:pt idx="6">
                    <c:v>France</c:v>
                  </c:pt>
                  <c:pt idx="7">
                    <c:v>Ukraine</c:v>
                  </c:pt>
                  <c:pt idx="8">
                    <c:v>Brazil</c:v>
                  </c:pt>
                  <c:pt idx="9">
                    <c:v>India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143000</c:v>
                </c:pt>
                <c:pt idx="1">
                  <c:v>87231</c:v>
                </c:pt>
                <c:pt idx="2">
                  <c:v>84076</c:v>
                </c:pt>
                <c:pt idx="3">
                  <c:v>73036</c:v>
                </c:pt>
                <c:pt idx="4">
                  <c:v>69814</c:v>
                </c:pt>
                <c:pt idx="5">
                  <c:v>55536</c:v>
                </c:pt>
                <c:pt idx="6">
                  <c:v>53703</c:v>
                </c:pt>
                <c:pt idx="7">
                  <c:v>26904</c:v>
                </c:pt>
                <c:pt idx="8">
                  <c:v>23945</c:v>
                </c:pt>
                <c:pt idx="9">
                  <c:v>16749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10789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34340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73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B3"/>
                </a:solidFill>
              </a:rPr>
              <a:t>Vincenzo Ambrosino  ·  Developer Technology Trends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-ambrosino/ibm-data-analyst-capstone" TargetMode="External"/><Relationship Id="rId1" Type="http://schemas.openxmlformats.org/officeDocument/2006/relationships/image" Target="../media/image-25-1.png"/><Relationship Id="rId3" Type="http://schemas.openxmlformats.org/officeDocument/2006/relationships/image" Target="../media/image-25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-2"/>
          <p:cNvSpPr txBox="1"/>
          <p:nvPr/>
        </p:nvSpPr>
        <p:spPr>
          <a:xfrm>
            <a:off x="54864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93A"/>
                </a:solidFill>
              </a:rPr>
              <a:t>IBM DATA ANALYST PROFESSIONAL CERTIFICATE  ·  CAPSTONE</a:t>
            </a:r>
            <a:endParaRPr lang="en-US" sz="1300" dirty="0"/>
          </a:p>
        </p:txBody>
      </p:sp>
      <p:sp>
        <p:nvSpPr>
          <p:cNvPr id="3" name="!!Title"/>
          <p:cNvSpPr/>
          <p:nvPr>
            <p:ph idx="100" type="title" hasCustomPrompt="1"/>
          </p:nvPr>
        </p:nvSpPr>
        <p:spPr>
          <a:xfrm>
            <a:off x="548640" y="16002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Developer Technology Trends: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Current Usage and </a:t>
            </a:r>
            <a:pPr algn="l" indent="0" marL="0">
              <a:buNone/>
            </a:pPr>
            <a:r>
              <a:rPr lang="en-US" sz="4600" b="1" dirty="0">
                <a:solidFill>
                  <a:srgbClr val="E8693A"/>
                </a:solidFill>
              </a:rPr>
              <a:t>Future Demand</a:t>
            </a:r>
            <a:endParaRPr lang="en-US" sz="4600" dirty="0"/>
          </a:p>
        </p:txBody>
      </p:sp>
      <p:sp>
        <p:nvSpPr>
          <p:cNvPr id="4" name="text s1-4"/>
          <p:cNvSpPr txBox="1"/>
          <p:nvPr/>
        </p:nvSpPr>
        <p:spPr>
          <a:xfrm>
            <a:off x="548640" y="4023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Vincenzo Ambrosino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October 6, 2026</a:t>
            </a:r>
            <a:endParaRPr lang="en-US" sz="2000" dirty="0"/>
          </a:p>
        </p:txBody>
      </p:sp>
      <p:sp>
        <p:nvSpPr>
          <p:cNvPr id="5" name="chip s1-5"/>
          <p:cNvSpPr/>
          <p:nvPr/>
        </p:nvSpPr>
        <p:spPr>
          <a:xfrm>
            <a:off x="548640" y="5074920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6" name="chip text s1-6"/>
          <p:cNvSpPr txBox="1"/>
          <p:nvPr/>
        </p:nvSpPr>
        <p:spPr>
          <a:xfrm>
            <a:off x="548640" y="507492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Python</a:t>
            </a:r>
            <a:endParaRPr lang="en-US" sz="1300" dirty="0"/>
          </a:p>
        </p:txBody>
      </p:sp>
      <p:sp>
        <p:nvSpPr>
          <p:cNvPr id="7" name="chip s1-7"/>
          <p:cNvSpPr/>
          <p:nvPr/>
        </p:nvSpPr>
        <p:spPr>
          <a:xfrm>
            <a:off x="1536192" y="5074920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8" name="chip text s1-8"/>
          <p:cNvSpPr txBox="1"/>
          <p:nvPr/>
        </p:nvSpPr>
        <p:spPr>
          <a:xfrm>
            <a:off x="1536192" y="507492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pandas</a:t>
            </a:r>
            <a:endParaRPr lang="en-US" sz="1300" dirty="0"/>
          </a:p>
        </p:txBody>
      </p:sp>
      <p:sp>
        <p:nvSpPr>
          <p:cNvPr id="9" name="chip s1-9"/>
          <p:cNvSpPr/>
          <p:nvPr/>
        </p:nvSpPr>
        <p:spPr>
          <a:xfrm>
            <a:off x="2523744" y="507492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chip text s1-10"/>
          <p:cNvSpPr txBox="1"/>
          <p:nvPr/>
        </p:nvSpPr>
        <p:spPr>
          <a:xfrm>
            <a:off x="2523744" y="50749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SQL / SQLite</a:t>
            </a:r>
            <a:endParaRPr lang="en-US" sz="1300" dirty="0"/>
          </a:p>
        </p:txBody>
      </p:sp>
      <p:sp>
        <p:nvSpPr>
          <p:cNvPr id="11" name="chip s1-11"/>
          <p:cNvSpPr/>
          <p:nvPr/>
        </p:nvSpPr>
        <p:spPr>
          <a:xfrm>
            <a:off x="4087368" y="50749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2" name="chip text s1-12"/>
          <p:cNvSpPr txBox="1"/>
          <p:nvPr/>
        </p:nvSpPr>
        <p:spPr>
          <a:xfrm>
            <a:off x="4087368" y="5074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13" name="chip s1-13"/>
          <p:cNvSpPr/>
          <p:nvPr/>
        </p:nvSpPr>
        <p:spPr>
          <a:xfrm>
            <a:off x="5458968" y="5074920"/>
            <a:ext cx="946404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4" name="chip text s1-14"/>
          <p:cNvSpPr txBox="1"/>
          <p:nvPr/>
        </p:nvSpPr>
        <p:spPr>
          <a:xfrm>
            <a:off x="5458968" y="5074920"/>
            <a:ext cx="946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Seaborn</a:t>
            </a:r>
            <a:endParaRPr lang="en-US" sz="1300" dirty="0"/>
          </a:p>
        </p:txBody>
      </p:sp>
      <p:sp>
        <p:nvSpPr>
          <p:cNvPr id="15" name="chip s1-15"/>
          <p:cNvSpPr/>
          <p:nvPr/>
        </p:nvSpPr>
        <p:spPr>
          <a:xfrm>
            <a:off x="6542532" y="5074920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6" name="chip text s1-16"/>
          <p:cNvSpPr txBox="1"/>
          <p:nvPr/>
        </p:nvSpPr>
        <p:spPr>
          <a:xfrm>
            <a:off x="6542532" y="5074920"/>
            <a:ext cx="1522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Looker Studio</a:t>
            </a:r>
            <a:endParaRPr lang="en-US" sz="1300" dirty="0"/>
          </a:p>
        </p:txBody>
      </p:sp>
      <p:pic>
        <p:nvPicPr>
          <p:cNvPr id="17" name="hero art s1-17" descr="Stylized bar chart: languages used today vs. desired next y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886200"/>
            <a:ext cx="3474720" cy="2842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65,437 raw survey responses to clear hiring signals</a:t>
            </a:r>
            <a:endParaRPr lang="en-US" sz="3000" dirty="0"/>
          </a:p>
        </p:txBody>
      </p:sp>
      <p:sp>
        <p:nvSpPr>
          <p:cNvPr id="4" name="card s2-4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2-5"/>
          <p:cNvSpPr txBox="1"/>
          <p:nvPr/>
        </p:nvSpPr>
        <p:spPr>
          <a:xfrm>
            <a:off x="86868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987E5"/>
                </a:solidFill>
              </a:rPr>
              <a:t>65,437</a:t>
            </a:r>
            <a:endParaRPr lang="en-US" sz="5400" dirty="0"/>
          </a:p>
        </p:txBody>
      </p:sp>
      <p:sp>
        <p:nvSpPr>
          <p:cNvPr id="6" name="text s2-6"/>
          <p:cNvSpPr txBox="1"/>
          <p:nvPr/>
        </p:nvSpPr>
        <p:spPr>
          <a:xfrm>
            <a:off x="86868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survey responses after removing 10 duplicate rows</a:t>
            </a:r>
            <a:endParaRPr lang="en-US" sz="1500" dirty="0"/>
          </a:p>
        </p:txBody>
      </p:sp>
      <p:sp>
        <p:nvSpPr>
          <p:cNvPr id="7" name="card s2-7"/>
          <p:cNvSpPr/>
          <p:nvPr/>
        </p:nvSpPr>
        <p:spPr>
          <a:xfrm>
            <a:off x="4297680" y="169164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8" name="text s2-8"/>
          <p:cNvSpPr txBox="1"/>
          <p:nvPr/>
        </p:nvSpPr>
        <p:spPr>
          <a:xfrm>
            <a:off x="46177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987E5"/>
                </a:solidFill>
              </a:rPr>
              <a:t>18,845</a:t>
            </a:r>
            <a:endParaRPr lang="en-US" sz="5400" dirty="0"/>
          </a:p>
        </p:txBody>
      </p:sp>
      <p:sp>
        <p:nvSpPr>
          <p:cNvPr id="9" name="text s2-9"/>
          <p:cNvSpPr txBox="1"/>
          <p:nvPr/>
        </p:nvSpPr>
        <p:spPr>
          <a:xfrm>
            <a:off x="461772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respondents in the dashboard long table</a:t>
            </a:r>
            <a:endParaRPr lang="en-US" sz="1500" dirty="0"/>
          </a:p>
        </p:txBody>
      </p:sp>
      <p:sp>
        <p:nvSpPr>
          <p:cNvPr id="10" name="card s2-10"/>
          <p:cNvSpPr/>
          <p:nvPr/>
        </p:nvSpPr>
        <p:spPr>
          <a:xfrm>
            <a:off x="8046720" y="169164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1" name="text s2-11"/>
          <p:cNvSpPr txBox="1"/>
          <p:nvPr/>
        </p:nvSpPr>
        <p:spPr>
          <a:xfrm>
            <a:off x="836676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987E5"/>
                </a:solidFill>
              </a:rPr>
              <a:t>161</a:t>
            </a:r>
            <a:endParaRPr lang="en-US" sz="5400" dirty="0"/>
          </a:p>
        </p:txBody>
      </p:sp>
      <p:sp>
        <p:nvSpPr>
          <p:cNvPr id="12" name="text s2-12"/>
          <p:cNvSpPr txBox="1"/>
          <p:nvPr/>
        </p:nvSpPr>
        <p:spPr>
          <a:xfrm>
            <a:off x="836676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countries represented in the survey</a:t>
            </a:r>
            <a:endParaRPr lang="en-US" sz="1500" dirty="0"/>
          </a:p>
        </p:txBody>
      </p:sp>
      <p:sp>
        <p:nvSpPr>
          <p:cNvPr id="13" name="card s2-13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4" name="text s2-14"/>
          <p:cNvSpPr txBox="1"/>
          <p:nvPr/>
        </p:nvSpPr>
        <p:spPr>
          <a:xfrm>
            <a:off x="86868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693A"/>
                </a:solidFill>
              </a:rPr>
              <a:t>3</a:t>
            </a:r>
            <a:endParaRPr lang="en-US" sz="5400" dirty="0"/>
          </a:p>
        </p:txBody>
      </p:sp>
      <p:sp>
        <p:nvSpPr>
          <p:cNvPr id="15" name="text s2-15"/>
          <p:cNvSpPr txBox="1"/>
          <p:nvPr/>
        </p:nvSpPr>
        <p:spPr>
          <a:xfrm>
            <a:off x="86868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data sources: Job API, web scraping and the Stack Overflow Developer Survey</a:t>
            </a:r>
            <a:endParaRPr lang="en-US" sz="1500" dirty="0"/>
          </a:p>
        </p:txBody>
      </p:sp>
      <p:sp>
        <p:nvSpPr>
          <p:cNvPr id="16" name="card s2-16"/>
          <p:cNvSpPr/>
          <p:nvPr/>
        </p:nvSpPr>
        <p:spPr>
          <a:xfrm>
            <a:off x="4297680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7" name="text s2-17"/>
          <p:cNvSpPr txBox="1"/>
          <p:nvPr/>
        </p:nvSpPr>
        <p:spPr>
          <a:xfrm>
            <a:off x="461772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693A"/>
                </a:solidFill>
              </a:rPr>
              <a:t>978</a:t>
            </a:r>
            <a:endParaRPr lang="en-US" sz="5400" dirty="0"/>
          </a:p>
        </p:txBody>
      </p:sp>
      <p:sp>
        <p:nvSpPr>
          <p:cNvPr id="18" name="text s2-18"/>
          <p:cNvSpPr txBox="1"/>
          <p:nvPr/>
        </p:nvSpPr>
        <p:spPr>
          <a:xfrm>
            <a:off x="461772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compensation outliers detected with the IQR method</a:t>
            </a:r>
            <a:endParaRPr lang="en-US" sz="1500" dirty="0"/>
          </a:p>
        </p:txBody>
      </p:sp>
      <p:sp>
        <p:nvSpPr>
          <p:cNvPr id="19" name="card s2-19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0" name="text s2-20"/>
          <p:cNvSpPr txBox="1"/>
          <p:nvPr/>
        </p:nvSpPr>
        <p:spPr>
          <a:xfrm>
            <a:off x="836676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693A"/>
                </a:solidFill>
              </a:rPr>
              <a:t>64%</a:t>
            </a:r>
            <a:endParaRPr lang="en-US" sz="5400" dirty="0"/>
          </a:p>
        </p:txBody>
      </p:sp>
      <p:sp>
        <p:nvSpPr>
          <p:cNvPr id="21" name="text s2-21"/>
          <p:cNvSpPr txBox="1"/>
          <p:nvPr/>
        </p:nvSpPr>
        <p:spPr>
          <a:xfrm>
            <a:off x="836676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missing compensation values, imputed with the median ($65,000)</a:t>
            </a:r>
            <a:endParaRPr lang="en-US" sz="1500" dirty="0"/>
          </a:p>
        </p:txBody>
      </p:sp>
      <p:sp>
        <p:nvSpPr>
          <p:cNvPr id="25" name="Slide Number Placeholder 0 s2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OUTLINE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this deck covers</a:t>
            </a:r>
            <a:endParaRPr lang="en-US" sz="3000" dirty="0"/>
          </a:p>
        </p:txBody>
      </p:sp>
      <p:sp>
        <p:nvSpPr>
          <p:cNvPr id="4" name="card s3-4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num circle s3-5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6" name="text s3-6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s3-7"/>
          <p:cNvSpPr txBox="1"/>
          <p:nvPr/>
        </p:nvSpPr>
        <p:spPr>
          <a:xfrm>
            <a:off x="1554480" y="1645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Executive Summary</a:t>
            </a:r>
            <a:endParaRPr lang="en-US" sz="1500" dirty="0"/>
          </a:p>
        </p:txBody>
      </p:sp>
      <p:sp>
        <p:nvSpPr>
          <p:cNvPr id="8" name="card s3-8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9" name="num circle s3-9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s3-10"/>
          <p:cNvSpPr txBox="1"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s3-11"/>
          <p:cNvSpPr txBox="1"/>
          <p:nvPr/>
        </p:nvSpPr>
        <p:spPr>
          <a:xfrm>
            <a:off x="155448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12" name="card s3-12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3" name="num circle s3-13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4" name="text s3-14"/>
          <p:cNvSpPr txBox="1"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s3-15"/>
          <p:cNvSpPr txBox="1"/>
          <p:nvPr/>
        </p:nvSpPr>
        <p:spPr>
          <a:xfrm>
            <a:off x="155448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6" name="card s3-16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7" name="num circle s3-17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E8693A"/>
          </a:solidFill>
          <a:ln w="12700">
            <a:solidFill>
              <a:srgbClr val="E8693A"/>
            </a:solidFill>
            <a:prstDash val="solid"/>
          </a:ln>
        </p:spPr>
      </p:sp>
      <p:sp>
        <p:nvSpPr>
          <p:cNvPr id="18" name="text s3-18"/>
          <p:cNvSpPr txBox="1"/>
          <p:nvPr/>
        </p:nvSpPr>
        <p:spPr>
          <a:xfrm>
            <a:off x="7772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s3-19"/>
          <p:cNvSpPr txBox="1"/>
          <p:nvPr/>
        </p:nvSpPr>
        <p:spPr>
          <a:xfrm>
            <a:off x="155448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Results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AB3"/>
                </a:solidFill>
              </a:rPr>
              <a:t>Visualization – Charts · Dashboard</a:t>
            </a:r>
            <a:endParaRPr lang="en-US" sz="1500" dirty="0"/>
          </a:p>
        </p:txBody>
      </p:sp>
      <p:sp>
        <p:nvSpPr>
          <p:cNvPr id="20" name="card s3-20"/>
          <p:cNvSpPr/>
          <p:nvPr/>
        </p:nvSpPr>
        <p:spPr>
          <a:xfrm>
            <a:off x="6172200" y="164592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1" name="num circle s3-21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2" name="text s3-22"/>
          <p:cNvSpPr txBox="1"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s3-23"/>
          <p:cNvSpPr txBox="1"/>
          <p:nvPr/>
        </p:nvSpPr>
        <p:spPr>
          <a:xfrm>
            <a:off x="7178040" y="1645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Discussion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AB3"/>
                </a:solidFill>
              </a:rPr>
              <a:t>Findings &amp; Implications</a:t>
            </a:r>
            <a:endParaRPr lang="en-US" sz="1500" dirty="0"/>
          </a:p>
        </p:txBody>
      </p:sp>
      <p:sp>
        <p:nvSpPr>
          <p:cNvPr id="24" name="card s3-24"/>
          <p:cNvSpPr/>
          <p:nvPr/>
        </p:nvSpPr>
        <p:spPr>
          <a:xfrm>
            <a:off x="6172200" y="274320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5" name="num circle s3-25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6" name="text s3-26"/>
          <p:cNvSpPr txBox="1"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s3-27"/>
          <p:cNvSpPr txBox="1"/>
          <p:nvPr/>
        </p:nvSpPr>
        <p:spPr>
          <a:xfrm>
            <a:off x="717804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28" name="card s3-28"/>
          <p:cNvSpPr/>
          <p:nvPr/>
        </p:nvSpPr>
        <p:spPr>
          <a:xfrm>
            <a:off x="6172200" y="3840480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9" name="num circle s3-29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30" name="text s3-30"/>
          <p:cNvSpPr txBox="1"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s3-31"/>
          <p:cNvSpPr txBox="1"/>
          <p:nvPr/>
        </p:nvSpPr>
        <p:spPr>
          <a:xfrm>
            <a:off x="717804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Appendix</a:t>
            </a:r>
            <a:endParaRPr lang="en-US" sz="1500" dirty="0"/>
          </a:p>
        </p:txBody>
      </p:sp>
      <p:sp>
        <p:nvSpPr>
          <p:cNvPr id="25" name="Slide Number Placeholder 0 s3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stable core stack, with clear risers for next year</a:t>
            </a:r>
            <a:endParaRPr lang="en-US" sz="3000" dirty="0"/>
          </a:p>
        </p:txBody>
      </p:sp>
      <p:sp>
        <p:nvSpPr>
          <p:cNvPr id="4" name="subtitle s4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Key findings from job postings, salary data and 18,845 developer survey responses</a:t>
            </a:r>
            <a:endParaRPr lang="en-US" sz="1600" dirty="0"/>
          </a:p>
        </p:txBody>
      </p:sp>
      <p:sp>
        <p:nvSpPr>
          <p:cNvPr id="5" name="card s4-5"/>
          <p:cNvSpPr/>
          <p:nvPr/>
        </p:nvSpPr>
        <p:spPr>
          <a:xfrm>
            <a:off x="548640" y="182880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icon circle s4-6"/>
          <p:cNvSpPr/>
          <p:nvPr/>
        </p:nvSpPr>
        <p:spPr>
          <a:xfrm>
            <a:off x="731520" y="1956816"/>
            <a:ext cx="493776" cy="493776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7" name="icon s4-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40" y="2090136"/>
            <a:ext cx="227137" cy="227137"/>
          </a:xfrm>
          <a:prstGeom prst="rect">
            <a:avLst/>
          </a:prstGeom>
        </p:spPr>
      </p:pic>
      <p:sp>
        <p:nvSpPr>
          <p:cNvPr id="8" name="text s4-8"/>
          <p:cNvSpPr txBox="1"/>
          <p:nvPr/>
        </p:nvSpPr>
        <p:spPr>
          <a:xfrm>
            <a:off x="1417320" y="18288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Jobs &amp; pay</a:t>
            </a:r>
            <a:endParaRPr lang="en-US" sz="1500" dirty="0"/>
          </a:p>
        </p:txBody>
      </p:sp>
      <p:sp>
        <p:nvSpPr>
          <p:cNvPr id="9" name="text s4-9"/>
          <p:cNvSpPr txBox="1"/>
          <p:nvPr/>
        </p:nvSpPr>
        <p:spPr>
          <a:xfrm>
            <a:off x="3017520" y="182880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Washington DC (5,316), Detroit (3,945) and Seattle (3,375) lead job postings; Swift ($130.8K) and Python ($114.4K) top the salary ranking</a:t>
            </a:r>
            <a:endParaRPr lang="en-US" sz="1500" dirty="0"/>
          </a:p>
        </p:txBody>
      </p:sp>
      <p:sp>
        <p:nvSpPr>
          <p:cNvPr id="10" name="card s4-10"/>
          <p:cNvSpPr/>
          <p:nvPr/>
        </p:nvSpPr>
        <p:spPr>
          <a:xfrm>
            <a:off x="548640" y="269748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1" name="icon circle s4-11"/>
          <p:cNvSpPr/>
          <p:nvPr/>
        </p:nvSpPr>
        <p:spPr>
          <a:xfrm>
            <a:off x="731520" y="2825496"/>
            <a:ext cx="493776" cy="493776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12" name="icon s4-1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40" y="2958816"/>
            <a:ext cx="227137" cy="227137"/>
          </a:xfrm>
          <a:prstGeom prst="rect">
            <a:avLst/>
          </a:prstGeom>
        </p:spPr>
      </p:pic>
      <p:sp>
        <p:nvSpPr>
          <p:cNvPr id="13" name="text s4-13"/>
          <p:cNvSpPr txBox="1"/>
          <p:nvPr/>
        </p:nvSpPr>
        <p:spPr>
          <a:xfrm>
            <a:off x="1417320" y="269748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Languages</a:t>
            </a:r>
            <a:endParaRPr lang="en-US" sz="1500" dirty="0"/>
          </a:p>
        </p:txBody>
      </p:sp>
      <p:sp>
        <p:nvSpPr>
          <p:cNvPr id="14" name="text s4-14"/>
          <p:cNvSpPr txBox="1"/>
          <p:nvPr/>
        </p:nvSpPr>
        <p:spPr>
          <a:xfrm>
            <a:off x="3017520" y="269748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JavaScript, SQL and TypeScript are both the most used and the most desired languages. Rust and Go enter the desired top 10, while PHP and PowerShell drop out</a:t>
            </a:r>
            <a:endParaRPr lang="en-US" sz="1500" dirty="0"/>
          </a:p>
        </p:txBody>
      </p:sp>
      <p:sp>
        <p:nvSpPr>
          <p:cNvPr id="15" name="card s4-15"/>
          <p:cNvSpPr/>
          <p:nvPr/>
        </p:nvSpPr>
        <p:spPr>
          <a:xfrm>
            <a:off x="548640" y="356616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6" name="icon circle s4-16"/>
          <p:cNvSpPr/>
          <p:nvPr/>
        </p:nvSpPr>
        <p:spPr>
          <a:xfrm>
            <a:off x="731520" y="3694176"/>
            <a:ext cx="493776" cy="493776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17" name="icon s4-17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40" y="3827496"/>
            <a:ext cx="227137" cy="227137"/>
          </a:xfrm>
          <a:prstGeom prst="rect">
            <a:avLst/>
          </a:prstGeom>
        </p:spPr>
      </p:pic>
      <p:sp>
        <p:nvSpPr>
          <p:cNvPr id="18" name="text s4-18"/>
          <p:cNvSpPr txBox="1"/>
          <p:nvPr/>
        </p:nvSpPr>
        <p:spPr>
          <a:xfrm>
            <a:off x="1417320" y="35661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Databases</a:t>
            </a:r>
            <a:endParaRPr lang="en-US" sz="1500" dirty="0"/>
          </a:p>
        </p:txBody>
      </p:sp>
      <p:sp>
        <p:nvSpPr>
          <p:cNvPr id="19" name="text s4-19"/>
          <p:cNvSpPr txBox="1"/>
          <p:nvPr/>
        </p:nvSpPr>
        <p:spPr>
          <a:xfrm>
            <a:off x="3017520" y="35661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PostgreSQL is the leading database today (11,514) and its lead grows next year (12,193); Redis rises to 2nd place</a:t>
            </a:r>
            <a:endParaRPr lang="en-US" sz="1500" dirty="0"/>
          </a:p>
        </p:txBody>
      </p:sp>
      <p:sp>
        <p:nvSpPr>
          <p:cNvPr id="20" name="card s4-20"/>
          <p:cNvSpPr/>
          <p:nvPr/>
        </p:nvSpPr>
        <p:spPr>
          <a:xfrm>
            <a:off x="548640" y="443484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1" name="icon circle s4-21"/>
          <p:cNvSpPr/>
          <p:nvPr/>
        </p:nvSpPr>
        <p:spPr>
          <a:xfrm>
            <a:off x="731520" y="4562856"/>
            <a:ext cx="493776" cy="493776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2" name="icon s4-2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40" y="4696176"/>
            <a:ext cx="227137" cy="227137"/>
          </a:xfrm>
          <a:prstGeom prst="rect">
            <a:avLst/>
          </a:prstGeom>
        </p:spPr>
      </p:pic>
      <p:sp>
        <p:nvSpPr>
          <p:cNvPr id="23" name="text s4-23"/>
          <p:cNvSpPr txBox="1"/>
          <p:nvPr/>
        </p:nvSpPr>
        <p:spPr>
          <a:xfrm>
            <a:off x="1417320" y="443484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Platforms</a:t>
            </a:r>
            <a:endParaRPr lang="en-US" sz="1500" dirty="0"/>
          </a:p>
        </p:txBody>
      </p:sp>
      <p:sp>
        <p:nvSpPr>
          <p:cNvPr id="24" name="text s4-24"/>
          <p:cNvSpPr txBox="1"/>
          <p:nvPr/>
        </p:nvSpPr>
        <p:spPr>
          <a:xfrm>
            <a:off x="3017520" y="443484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AWS, Microsoft Azure and Google Cloud dominate cloud platforms; React and Node.js dominate web frameworks</a:t>
            </a:r>
            <a:endParaRPr lang="en-US" sz="1500" dirty="0"/>
          </a:p>
        </p:txBody>
      </p:sp>
      <p:sp>
        <p:nvSpPr>
          <p:cNvPr id="25" name="card s4-25"/>
          <p:cNvSpPr/>
          <p:nvPr/>
        </p:nvSpPr>
        <p:spPr>
          <a:xfrm>
            <a:off x="548640" y="530352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6" name="icon circle s4-26"/>
          <p:cNvSpPr/>
          <p:nvPr/>
        </p:nvSpPr>
        <p:spPr>
          <a:xfrm>
            <a:off x="731520" y="5431536"/>
            <a:ext cx="493776" cy="493776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7" name="icon s4-27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40" y="5564856"/>
            <a:ext cx="227137" cy="227137"/>
          </a:xfrm>
          <a:prstGeom prst="rect">
            <a:avLst/>
          </a:prstGeom>
        </p:spPr>
      </p:pic>
      <p:sp>
        <p:nvSpPr>
          <p:cNvPr id="28" name="text s4-28"/>
          <p:cNvSpPr txBox="1"/>
          <p:nvPr/>
        </p:nvSpPr>
        <p:spPr>
          <a:xfrm>
            <a:off x="1417320" y="5303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Respondents</a:t>
            </a:r>
            <a:endParaRPr lang="en-US" sz="1500" dirty="0"/>
          </a:p>
        </p:txBody>
      </p:sp>
      <p:sp>
        <p:nvSpPr>
          <p:cNvPr id="29" name="text s4-29"/>
          <p:cNvSpPr txBox="1"/>
          <p:nvPr/>
        </p:nvSpPr>
        <p:spPr>
          <a:xfrm>
            <a:off x="3017520" y="530352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Most respondents are 25-44 years old (68.6%) and hold a bachelor's or master's degree (72.3%)</a:t>
            </a:r>
            <a:endParaRPr lang="en-US" sz="1500" dirty="0"/>
          </a:p>
        </p:txBody>
      </p:sp>
      <p:sp>
        <p:nvSpPr>
          <p:cNvPr id="25" name="Slide Number Placeholder 0 s4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Which skills are in demand today, and which come next?</a:t>
            </a:r>
            <a:endParaRPr lang="en-US" sz="3000" dirty="0"/>
          </a:p>
        </p:txBody>
      </p:sp>
      <p:sp>
        <p:nvSpPr>
          <p:cNvPr id="4" name="subtitle s5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Purpose of the report, target audience &amp; value of the analysis</a:t>
            </a:r>
            <a:endParaRPr lang="en-US" sz="1600" dirty="0"/>
          </a:p>
        </p:txBody>
      </p:sp>
      <p:sp>
        <p:nvSpPr>
          <p:cNvPr id="5" name="card s5-5"/>
          <p:cNvSpPr/>
          <p:nvPr/>
        </p:nvSpPr>
        <p:spPr>
          <a:xfrm>
            <a:off x="548640" y="1874520"/>
            <a:ext cx="3520440" cy="2468880"/>
          </a:xfrm>
          <a:prstGeom prst="roundRect">
            <a:avLst>
              <a:gd name="adj" fmla="val 518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icon circle s5-6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7" name="icon s5-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66066"/>
            <a:ext cx="277612" cy="277612"/>
          </a:xfrm>
          <a:prstGeom prst="rect">
            <a:avLst/>
          </a:prstGeom>
        </p:spPr>
      </p:pic>
      <p:sp>
        <p:nvSpPr>
          <p:cNvPr id="8" name="text s5-8"/>
          <p:cNvSpPr txBox="1"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Purpose</a:t>
            </a:r>
            <a:endParaRPr lang="en-US" sz="1900" dirty="0"/>
          </a:p>
        </p:txBody>
      </p:sp>
      <p:sp>
        <p:nvSpPr>
          <p:cNvPr id="9" name="text s5-9"/>
          <p:cNvSpPr txBox="1"/>
          <p:nvPr/>
        </p:nvSpPr>
        <p:spPr>
          <a:xfrm>
            <a:off x="82296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Identify which technology skills are in demand today and which ones developers want to adopt next</a:t>
            </a:r>
            <a:endParaRPr lang="en-US" sz="1500" dirty="0"/>
          </a:p>
        </p:txBody>
      </p:sp>
      <p:sp>
        <p:nvSpPr>
          <p:cNvPr id="10" name="card s5-10"/>
          <p:cNvSpPr/>
          <p:nvPr/>
        </p:nvSpPr>
        <p:spPr>
          <a:xfrm>
            <a:off x="4297680" y="1874520"/>
            <a:ext cx="3520440" cy="2468880"/>
          </a:xfrm>
          <a:prstGeom prst="roundRect">
            <a:avLst>
              <a:gd name="adj" fmla="val 518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1" name="icon circle s5-11"/>
          <p:cNvSpPr/>
          <p:nvPr/>
        </p:nvSpPr>
        <p:spPr>
          <a:xfrm>
            <a:off x="4572000" y="210312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12" name="icon s5-1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946" y="2266066"/>
            <a:ext cx="277612" cy="277612"/>
          </a:xfrm>
          <a:prstGeom prst="rect">
            <a:avLst/>
          </a:prstGeom>
        </p:spPr>
      </p:pic>
      <p:sp>
        <p:nvSpPr>
          <p:cNvPr id="13" name="text s5-13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Target audience</a:t>
            </a:r>
            <a:endParaRPr lang="en-US" sz="1900" dirty="0"/>
          </a:p>
        </p:txBody>
      </p:sp>
      <p:sp>
        <p:nvSpPr>
          <p:cNvPr id="14" name="text s5-14"/>
          <p:cNvSpPr txBox="1"/>
          <p:nvPr/>
        </p:nvSpPr>
        <p:spPr>
          <a:xfrm>
            <a:off x="457200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Hiring managers, HR and training teams, and job seekers planning their skills</a:t>
            </a:r>
            <a:endParaRPr lang="en-US" sz="1500" dirty="0"/>
          </a:p>
        </p:txBody>
      </p:sp>
      <p:sp>
        <p:nvSpPr>
          <p:cNvPr id="15" name="card s5-15"/>
          <p:cNvSpPr/>
          <p:nvPr/>
        </p:nvSpPr>
        <p:spPr>
          <a:xfrm>
            <a:off x="8046720" y="1874520"/>
            <a:ext cx="3520440" cy="2468880"/>
          </a:xfrm>
          <a:prstGeom prst="roundRect">
            <a:avLst>
              <a:gd name="adj" fmla="val 518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6" name="icon circle s5-16"/>
          <p:cNvSpPr/>
          <p:nvPr/>
        </p:nvSpPr>
        <p:spPr>
          <a:xfrm>
            <a:off x="8321040" y="210312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17" name="icon s5-17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86" y="2266066"/>
            <a:ext cx="277612" cy="277612"/>
          </a:xfrm>
          <a:prstGeom prst="rect">
            <a:avLst/>
          </a:prstGeom>
        </p:spPr>
      </p:pic>
      <p:sp>
        <p:nvSpPr>
          <p:cNvPr id="18" name="text s5-18"/>
          <p:cNvSpPr txBox="1"/>
          <p:nvPr/>
        </p:nvSpPr>
        <p:spPr>
          <a:xfrm>
            <a:off x="83210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5F9"/>
                </a:solidFill>
              </a:rPr>
              <a:t>Value</a:t>
            </a:r>
            <a:endParaRPr lang="en-US" sz="1900" dirty="0"/>
          </a:p>
        </p:txBody>
      </p:sp>
      <p:sp>
        <p:nvSpPr>
          <p:cNvPr id="19" name="text s5-19"/>
          <p:cNvSpPr txBox="1"/>
          <p:nvPr/>
        </p:nvSpPr>
        <p:spPr>
          <a:xfrm>
            <a:off x="832104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Data-driven guidance on which languages, databases, platforms and frameworks to learn or invest in</a:t>
            </a:r>
            <a:endParaRPr lang="en-US" sz="1500" dirty="0"/>
          </a:p>
        </p:txBody>
      </p:sp>
      <p:sp>
        <p:nvSpPr>
          <p:cNvPr id="20" name="card s5-20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823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1" name="text s5-21"/>
          <p:cNvSpPr txBox="1"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693A"/>
                </a:solidFill>
              </a:rPr>
              <a:t>Scope of the analysis</a:t>
            </a:r>
            <a:endParaRPr lang="en-US" sz="1700" dirty="0"/>
          </a:p>
        </p:txBody>
      </p:sp>
      <p:sp>
        <p:nvSpPr>
          <p:cNvPr id="22" name="bullets s5-2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Job postings by US city and salaries by programming language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Developer survey: current vs. desired technologies and respondent demographics</a:t>
            </a:r>
            <a:endParaRPr lang="en-US" sz="1500" dirty="0"/>
          </a:p>
        </p:txBody>
      </p:sp>
      <p:sp>
        <p:nvSpPr>
          <p:cNvPr id="25" name="Slide Number Placeholder 0 s5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three raw sources to one clean, analysis-ready dataset</a:t>
            </a:r>
            <a:endParaRPr lang="en-US" sz="3000" dirty="0"/>
          </a:p>
        </p:txBody>
      </p:sp>
      <p:sp>
        <p:nvSpPr>
          <p:cNvPr id="4" name="subtitle s6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Data sources, data collection &amp; data wrangling steps</a:t>
            </a:r>
            <a:endParaRPr lang="en-US" sz="1600" dirty="0"/>
          </a:p>
        </p:txBody>
      </p:sp>
      <p:sp>
        <p:nvSpPr>
          <p:cNvPr id="5" name="card s6-5"/>
          <p:cNvSpPr/>
          <p:nvPr/>
        </p:nvSpPr>
        <p:spPr>
          <a:xfrm>
            <a:off x="548640" y="1828800"/>
            <a:ext cx="2468880" cy="4343400"/>
          </a:xfrm>
          <a:prstGeom prst="roundRect">
            <a:avLst>
              <a:gd name="adj" fmla="val 518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icon circle s6-6"/>
          <p:cNvSpPr/>
          <p:nvPr/>
        </p:nvSpPr>
        <p:spPr>
          <a:xfrm>
            <a:off x="777240" y="2011680"/>
            <a:ext cx="512064" cy="51206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7" name="icon s6-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97" y="2149937"/>
            <a:ext cx="235549" cy="235549"/>
          </a:xfrm>
          <a:prstGeom prst="rect">
            <a:avLst/>
          </a:prstGeom>
        </p:spPr>
      </p:pic>
      <p:sp>
        <p:nvSpPr>
          <p:cNvPr id="8" name="text s6-8"/>
          <p:cNvSpPr txBox="1"/>
          <p:nvPr/>
        </p:nvSpPr>
        <p:spPr>
          <a:xfrm>
            <a:off x="1417320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AB3"/>
                </a:solidFill>
              </a:rPr>
              <a:t>STEP 1</a:t>
            </a:r>
            <a:endParaRPr lang="en-US" sz="1100" dirty="0"/>
          </a:p>
        </p:txBody>
      </p:sp>
      <p:sp>
        <p:nvSpPr>
          <p:cNvPr id="9" name="text s6-9"/>
          <p:cNvSpPr txBox="1"/>
          <p:nvPr/>
        </p:nvSpPr>
        <p:spPr>
          <a:xfrm>
            <a:off x="141732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Data sources</a:t>
            </a:r>
            <a:endParaRPr lang="en-US" sz="1500" dirty="0"/>
          </a:p>
        </p:txBody>
      </p:sp>
      <p:sp>
        <p:nvSpPr>
          <p:cNvPr id="10" name="bullets s6-10"/>
          <p:cNvSpPr txBox="1"/>
          <p:nvPr/>
        </p:nvSpPr>
        <p:spPr>
          <a:xfrm>
            <a:off x="777240" y="2788920"/>
            <a:ext cx="2057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Job postings via a Job API (job-postings.xlsx)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Salaries by language via web scraping (popular-languages.csv)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Stack Overflow Developer Survey</a:t>
            </a:r>
            <a:endParaRPr lang="en-US" sz="1500" dirty="0"/>
          </a:p>
        </p:txBody>
      </p:sp>
      <p:pic>
        <p:nvPicPr>
          <p:cNvPr id="11" name="arrow s6-11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3858768"/>
            <a:ext cx="155448" cy="274320"/>
          </a:xfrm>
          <a:prstGeom prst="rect">
            <a:avLst/>
          </a:prstGeom>
        </p:spPr>
      </p:pic>
      <p:sp>
        <p:nvSpPr>
          <p:cNvPr id="12" name="card s6-12"/>
          <p:cNvSpPr/>
          <p:nvPr/>
        </p:nvSpPr>
        <p:spPr>
          <a:xfrm>
            <a:off x="3227832" y="1828800"/>
            <a:ext cx="3886200" cy="4343400"/>
          </a:xfrm>
          <a:prstGeom prst="roundRect">
            <a:avLst>
              <a:gd name="adj" fmla="val 3294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3" name="icon circle s6-13"/>
          <p:cNvSpPr/>
          <p:nvPr/>
        </p:nvSpPr>
        <p:spPr>
          <a:xfrm>
            <a:off x="3456432" y="2011680"/>
            <a:ext cx="512064" cy="51206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E8693A"/>
            </a:solidFill>
            <a:prstDash val="solid"/>
          </a:ln>
        </p:spPr>
      </p:sp>
      <p:pic>
        <p:nvPicPr>
          <p:cNvPr id="14" name="icon s6-14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89" y="2149937"/>
            <a:ext cx="235549" cy="235549"/>
          </a:xfrm>
          <a:prstGeom prst="rect">
            <a:avLst/>
          </a:prstGeom>
        </p:spPr>
      </p:pic>
      <p:sp>
        <p:nvSpPr>
          <p:cNvPr id="15" name="text s6-15"/>
          <p:cNvSpPr txBox="1"/>
          <p:nvPr/>
        </p:nvSpPr>
        <p:spPr>
          <a:xfrm>
            <a:off x="4096512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AB3"/>
                </a:solidFill>
              </a:rPr>
              <a:t>STEP 2</a:t>
            </a:r>
            <a:endParaRPr lang="en-US" sz="1100" dirty="0"/>
          </a:p>
        </p:txBody>
      </p:sp>
      <p:sp>
        <p:nvSpPr>
          <p:cNvPr id="16" name="text s6-16"/>
          <p:cNvSpPr txBox="1"/>
          <p:nvPr/>
        </p:nvSpPr>
        <p:spPr>
          <a:xfrm>
            <a:off x="4096512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Data wrangling in Python (pandas)</a:t>
            </a:r>
            <a:endParaRPr lang="en-US" sz="1500" dirty="0"/>
          </a:p>
        </p:txBody>
      </p:sp>
      <p:sp>
        <p:nvSpPr>
          <p:cNvPr id="17" name="bullets s6-17"/>
          <p:cNvSpPr txBox="1"/>
          <p:nvPr/>
        </p:nvSpPr>
        <p:spPr>
          <a:xfrm>
            <a:off x="3456432" y="27889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Removed 10 duplicate rows (65,447 to 65,437 responses)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Imputed missing categorical values with the mode: RemoteWork (10,631 rows, "Hybrid") and EdLevel (4,653 rows, "Bachelor's degree")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Imputed missing ConvertedCompYearly (64%) with the median ($65,000), then normalized it with Min-Max and Z-score scaling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Detected 978 compensation outliers with the IQR method (above $220,861)</a:t>
            </a:r>
            <a:endParaRPr lang="en-US" sz="1450" dirty="0"/>
          </a:p>
        </p:txBody>
      </p:sp>
      <p:pic>
        <p:nvPicPr>
          <p:cNvPr id="18" name="arrow s6-18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3858768"/>
            <a:ext cx="155448" cy="274320"/>
          </a:xfrm>
          <a:prstGeom prst="rect">
            <a:avLst/>
          </a:prstGeom>
        </p:spPr>
      </p:pic>
      <p:sp>
        <p:nvSpPr>
          <p:cNvPr id="19" name="card s6-19"/>
          <p:cNvSpPr/>
          <p:nvPr/>
        </p:nvSpPr>
        <p:spPr>
          <a:xfrm>
            <a:off x="7324344" y="1828800"/>
            <a:ext cx="2057400" cy="4343400"/>
          </a:xfrm>
          <a:prstGeom prst="roundRect">
            <a:avLst>
              <a:gd name="adj" fmla="val 6222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0" name="icon circle s6-20"/>
          <p:cNvSpPr/>
          <p:nvPr/>
        </p:nvSpPr>
        <p:spPr>
          <a:xfrm>
            <a:off x="7552944" y="2011680"/>
            <a:ext cx="512064" cy="51206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1" name="icon s6-21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1201" y="2149937"/>
            <a:ext cx="235549" cy="235549"/>
          </a:xfrm>
          <a:prstGeom prst="rect">
            <a:avLst/>
          </a:prstGeom>
        </p:spPr>
      </p:pic>
      <p:sp>
        <p:nvSpPr>
          <p:cNvPr id="22" name="text s6-22"/>
          <p:cNvSpPr txBox="1"/>
          <p:nvPr/>
        </p:nvSpPr>
        <p:spPr>
          <a:xfrm>
            <a:off x="8193024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AB3"/>
                </a:solidFill>
              </a:rPr>
              <a:t>STEP 3</a:t>
            </a:r>
            <a:endParaRPr lang="en-US" sz="1100" dirty="0"/>
          </a:p>
        </p:txBody>
      </p:sp>
      <p:sp>
        <p:nvSpPr>
          <p:cNvPr id="23" name="text s6-23"/>
          <p:cNvSpPr txBox="1"/>
          <p:nvPr/>
        </p:nvSpPr>
        <p:spPr>
          <a:xfrm>
            <a:off x="8193024" y="2240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Exploratory analysis</a:t>
            </a:r>
            <a:endParaRPr lang="en-US" sz="1500" dirty="0"/>
          </a:p>
        </p:txBody>
      </p:sp>
      <p:sp>
        <p:nvSpPr>
          <p:cNvPr id="24" name="bullets s6-24"/>
          <p:cNvSpPr txBox="1"/>
          <p:nvPr/>
        </p:nvSpPr>
        <p:spPr>
          <a:xfrm>
            <a:off x="7552944" y="278892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Distributions, outliers and correlations (pandas, Matplotlib, Seaborn, SQL on SQLite)</a:t>
            </a:r>
            <a:endParaRPr lang="en-US" sz="1500" dirty="0"/>
          </a:p>
        </p:txBody>
      </p:sp>
      <p:pic>
        <p:nvPicPr>
          <p:cNvPr id="25" name="arrow s6-25" descr="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3858768"/>
            <a:ext cx="155448" cy="274320"/>
          </a:xfrm>
          <a:prstGeom prst="rect">
            <a:avLst/>
          </a:prstGeom>
        </p:spPr>
      </p:pic>
      <p:sp>
        <p:nvSpPr>
          <p:cNvPr id="26" name="card s6-26"/>
          <p:cNvSpPr/>
          <p:nvPr/>
        </p:nvSpPr>
        <p:spPr>
          <a:xfrm>
            <a:off x="9592056" y="1828800"/>
            <a:ext cx="2048256" cy="4343400"/>
          </a:xfrm>
          <a:prstGeom prst="roundRect">
            <a:avLst>
              <a:gd name="adj" fmla="val 6250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7" name="icon circle s6-27"/>
          <p:cNvSpPr/>
          <p:nvPr/>
        </p:nvSpPr>
        <p:spPr>
          <a:xfrm>
            <a:off x="9820656" y="2011680"/>
            <a:ext cx="512064" cy="51206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8" name="icon s6-28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913" y="2149937"/>
            <a:ext cx="235549" cy="235549"/>
          </a:xfrm>
          <a:prstGeom prst="rect">
            <a:avLst/>
          </a:prstGeom>
        </p:spPr>
      </p:pic>
      <p:sp>
        <p:nvSpPr>
          <p:cNvPr id="29" name="text s6-29"/>
          <p:cNvSpPr txBox="1"/>
          <p:nvPr/>
        </p:nvSpPr>
        <p:spPr>
          <a:xfrm>
            <a:off x="10460736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AB3"/>
                </a:solidFill>
              </a:rPr>
              <a:t>STEP 4</a:t>
            </a:r>
            <a:endParaRPr lang="en-US" sz="1100" dirty="0"/>
          </a:p>
        </p:txBody>
      </p:sp>
      <p:sp>
        <p:nvSpPr>
          <p:cNvPr id="30" name="text s6-30"/>
          <p:cNvSpPr txBox="1"/>
          <p:nvPr/>
        </p:nvSpPr>
        <p:spPr>
          <a:xfrm>
            <a:off x="10460736" y="224028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Dashboard</a:t>
            </a:r>
            <a:endParaRPr lang="en-US" sz="1500" dirty="0"/>
          </a:p>
        </p:txBody>
      </p:sp>
      <p:sp>
        <p:nvSpPr>
          <p:cNvPr id="31" name="bullets s6-31"/>
          <p:cNvSpPr txBox="1"/>
          <p:nvPr/>
        </p:nvSpPr>
        <p:spPr>
          <a:xfrm>
            <a:off x="9820656" y="2788920"/>
            <a:ext cx="16367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Multi-select answers split into a long table (18,845 respondents), null values excluded, built in Google Looker Studio</a:t>
            </a:r>
            <a:endParaRPr lang="en-US" sz="1500" dirty="0"/>
          </a:p>
        </p:txBody>
      </p:sp>
      <p:sp>
        <p:nvSpPr>
          <p:cNvPr id="25" name="Slide Number Placeholder 0 s6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s7-2"/>
          <p:cNvSpPr txBox="1"/>
          <p:nvPr/>
        </p:nvSpPr>
        <p:spPr>
          <a:xfrm>
            <a:off x="7680960" y="82296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3987E5">
                    <a:alpha val="22000"/>
                  </a:srgbClr>
                </a:solidFill>
              </a:rPr>
              <a:t>01</a:t>
            </a:r>
            <a:endParaRPr lang="en-US" sz="26000" dirty="0"/>
          </a:p>
        </p:txBody>
      </p:sp>
      <p:sp>
        <p:nvSpPr>
          <p:cNvPr id="3" name="!!Kicker"/>
          <p:cNvSpPr/>
          <p:nvPr>
            <p:ph idx="100" type="body" hasCustomPrompt="1"/>
          </p:nvPr>
        </p:nvSpPr>
        <p:spPr>
          <a:xfrm>
            <a:off x="54864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RESULTS</a:t>
            </a:r>
            <a:endParaRPr lang="en-US" sz="1600" dirty="0"/>
          </a:p>
        </p:txBody>
      </p:sp>
      <p:sp>
        <p:nvSpPr>
          <p:cNvPr id="4" name="!!Title"/>
          <p:cNvSpPr/>
          <p:nvPr>
            <p:ph idx="101" type="title" hasCustomPrompt="1"/>
          </p:nvPr>
        </p:nvSpPr>
        <p:spPr>
          <a:xfrm>
            <a:off x="54864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Where the jobs are, what pays, and what developers use</a:t>
            </a:r>
            <a:endParaRPr lang="en-US" sz="4000" dirty="0"/>
          </a:p>
        </p:txBody>
      </p:sp>
      <p:sp>
        <p:nvSpPr>
          <p:cNvPr id="5" name="!!Body"/>
          <p:cNvSpPr/>
          <p:nvPr>
            <p:ph idx="102" type="body" hasCustomPrompt="1"/>
          </p:nvPr>
        </p:nvSpPr>
        <p:spPr>
          <a:xfrm>
            <a:off x="54864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Job postings, salaries by language, and programming language and database trends</a:t>
            </a:r>
            <a:endParaRPr lang="en-US" sz="1800" dirty="0"/>
          </a:p>
        </p:txBody>
      </p:sp>
      <p:sp>
        <p:nvSpPr>
          <p:cNvPr id="25" name="Slide Number Placeholder 0 s7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JOB POSTINGS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Washington DC leads job postings, ahead of Detroit and Seattle</a:t>
            </a:r>
            <a:endParaRPr lang="en-US" sz="3000" dirty="0"/>
          </a:p>
        </p:txBody>
      </p:sp>
      <p:sp>
        <p:nvSpPr>
          <p:cNvPr id="4" name="card s8-4"/>
          <p:cNvSpPr/>
          <p:nvPr/>
        </p:nvSpPr>
        <p:spPr>
          <a:xfrm>
            <a:off x="548640" y="1508760"/>
            <a:ext cx="7178040" cy="4663440"/>
          </a:xfrm>
          <a:prstGeom prst="roundRect">
            <a:avLst>
              <a:gd name="adj" fmla="val 274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8-5"/>
          <p:cNvSpPr txBox="1"/>
          <p:nvPr/>
        </p:nvSpPr>
        <p:spPr>
          <a:xfrm>
            <a:off x="822960" y="1691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Number of job postings by city</a:t>
            </a:r>
            <a:endParaRPr lang="en-US" sz="1400" dirty="0"/>
          </a:p>
        </p:txBody>
      </p:sp>
      <p:graphicFrame>
        <p:nvGraphicFramePr>
          <p:cNvPr id="6" name="chart s8-6" descr="Job postings by city"/>
          <p:cNvGraphicFramePr/>
          <p:nvPr/>
        </p:nvGraphicFramePr>
        <p:xfrm>
          <a:off x="73152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s8-7"/>
          <p:cNvSpPr/>
          <p:nvPr/>
        </p:nvSpPr>
        <p:spPr>
          <a:xfrm>
            <a:off x="8001000" y="1508760"/>
            <a:ext cx="3639312" cy="4663440"/>
          </a:xfrm>
          <a:prstGeom prst="roundRect">
            <a:avLst>
              <a:gd name="adj" fmla="val 3518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8" name="text s8-8"/>
          <p:cNvSpPr txBox="1"/>
          <p:nvPr/>
        </p:nvSpPr>
        <p:spPr>
          <a:xfrm>
            <a:off x="8275320" y="1737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987E5"/>
                </a:solidFill>
              </a:rPr>
              <a:t>5,316</a:t>
            </a:r>
            <a:endParaRPr lang="en-US" sz="4800" dirty="0"/>
          </a:p>
        </p:txBody>
      </p:sp>
      <p:sp>
        <p:nvSpPr>
          <p:cNvPr id="9" name="text s8-9"/>
          <p:cNvSpPr txBox="1"/>
          <p:nvPr/>
        </p:nvSpPr>
        <p:spPr>
          <a:xfrm>
            <a:off x="82753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postings in Washington DC</a:t>
            </a:r>
            <a:endParaRPr lang="en-US" sz="1400" dirty="0"/>
          </a:p>
        </p:txBody>
      </p:sp>
      <p:sp>
        <p:nvSpPr>
          <p:cNvPr id="10" name="text s8-10"/>
          <p:cNvSpPr txBox="1"/>
          <p:nvPr/>
        </p:nvSpPr>
        <p:spPr>
          <a:xfrm>
            <a:off x="82753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693A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11" name="bullets s8-11"/>
          <p:cNvSpPr txBox="1"/>
          <p:nvPr/>
        </p:nvSpPr>
        <p:spPr>
          <a:xfrm>
            <a:off x="8275320" y="342900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Washington DC has the most postings (5,316), ahead of Detroit (3,945) and Seattle (3,375)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New York follows closely (3,226)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Los Angeles, San Francisco and Austin have far fewer postings (434-640)</a:t>
            </a:r>
            <a:endParaRPr lang="en-US" sz="1400" dirty="0"/>
          </a:p>
        </p:txBody>
      </p:sp>
      <p:sp>
        <p:nvSpPr>
          <p:cNvPr id="25" name="Slide Number Placeholder 0 s8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POPULAR LANGUAGES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Swift is the best-paid language; SQL and PHP pay the least</a:t>
            </a:r>
            <a:endParaRPr lang="en-US" sz="3000" dirty="0"/>
          </a:p>
        </p:txBody>
      </p:sp>
      <p:sp>
        <p:nvSpPr>
          <p:cNvPr id="4" name="card s9-4"/>
          <p:cNvSpPr/>
          <p:nvPr/>
        </p:nvSpPr>
        <p:spPr>
          <a:xfrm>
            <a:off x="548640" y="1508760"/>
            <a:ext cx="7178040" cy="4663440"/>
          </a:xfrm>
          <a:prstGeom prst="roundRect">
            <a:avLst>
              <a:gd name="adj" fmla="val 274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9-5"/>
          <p:cNvSpPr txBox="1"/>
          <p:nvPr/>
        </p:nvSpPr>
        <p:spPr>
          <a:xfrm>
            <a:off x="822960" y="1691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Average annual salary by programming language</a:t>
            </a:r>
            <a:endParaRPr lang="en-US" sz="1400" dirty="0"/>
          </a:p>
        </p:txBody>
      </p:sp>
      <p:graphicFrame>
        <p:nvGraphicFramePr>
          <p:cNvPr id="6" name="chart s9-6" descr="Average salary by language"/>
          <p:cNvGraphicFramePr/>
          <p:nvPr/>
        </p:nvGraphicFramePr>
        <p:xfrm>
          <a:off x="73152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s9-7"/>
          <p:cNvSpPr/>
          <p:nvPr/>
        </p:nvSpPr>
        <p:spPr>
          <a:xfrm>
            <a:off x="8001000" y="1508760"/>
            <a:ext cx="3639312" cy="4663440"/>
          </a:xfrm>
          <a:prstGeom prst="roundRect">
            <a:avLst>
              <a:gd name="adj" fmla="val 3518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E8693A"/>
            </a:solidFill>
            <a:prstDash val="solid"/>
          </a:ln>
        </p:spPr>
      </p:sp>
      <p:sp>
        <p:nvSpPr>
          <p:cNvPr id="8" name="text s9-8"/>
          <p:cNvSpPr txBox="1"/>
          <p:nvPr/>
        </p:nvSpPr>
        <p:spPr>
          <a:xfrm>
            <a:off x="8275320" y="1737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693A"/>
                </a:solidFill>
              </a:rPr>
              <a:t>$130,801</a:t>
            </a:r>
            <a:endParaRPr lang="en-US" sz="4400" dirty="0"/>
          </a:p>
        </p:txBody>
      </p:sp>
      <p:sp>
        <p:nvSpPr>
          <p:cNvPr id="9" name="text s9-9"/>
          <p:cNvSpPr txBox="1"/>
          <p:nvPr/>
        </p:nvSpPr>
        <p:spPr>
          <a:xfrm>
            <a:off x="82753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average salary for Swift</a:t>
            </a:r>
            <a:endParaRPr lang="en-US" sz="1400" dirty="0"/>
          </a:p>
        </p:txBody>
      </p:sp>
      <p:sp>
        <p:nvSpPr>
          <p:cNvPr id="10" name="text s9-10"/>
          <p:cNvSpPr txBox="1"/>
          <p:nvPr/>
        </p:nvSpPr>
        <p:spPr>
          <a:xfrm>
            <a:off x="82753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87E5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11" name="bullets s9-11"/>
          <p:cNvSpPr txBox="1"/>
          <p:nvPr/>
        </p:nvSpPr>
        <p:spPr>
          <a:xfrm>
            <a:off x="8275320" y="342900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Swift is the best-paid language ($130,801)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Python, C++ and JavaScript all exceed $110,000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SQL and PHP are at the bottom (~$84,700-$84,800), although SQL is one of the most used languages</a:t>
            </a:r>
            <a:endParaRPr lang="en-US" sz="1400" dirty="0"/>
          </a:p>
        </p:txBody>
      </p:sp>
      <p:sp>
        <p:nvSpPr>
          <p:cNvPr id="25" name="Slide Number Placeholder 0 s9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PROGRAMMING LANGUAGE TRENDS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Rust and Go enter next year's top 10; PHP and PowerShell drop out</a:t>
            </a:r>
            <a:endParaRPr lang="en-US" sz="3000" dirty="0"/>
          </a:p>
        </p:txBody>
      </p:sp>
      <p:sp>
        <p:nvSpPr>
          <p:cNvPr id="4" name="subtitle s10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JavaScript, SQL and TypeScript lead both years; Rust and Go replace PHP and PowerShell in next year's top 10.</a:t>
            </a:r>
            <a:endParaRPr lang="en-US" sz="1600" dirty="0"/>
          </a:p>
        </p:txBody>
      </p:sp>
      <p:sp>
        <p:nvSpPr>
          <p:cNvPr id="5" name="card s10-5"/>
          <p:cNvSpPr/>
          <p:nvPr/>
        </p:nvSpPr>
        <p:spPr>
          <a:xfrm>
            <a:off x="548640" y="1828800"/>
            <a:ext cx="5440680" cy="4343400"/>
          </a:xfrm>
          <a:prstGeom prst="roundRect">
            <a:avLst>
              <a:gd name="adj" fmla="val 2947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card s10-6"/>
          <p:cNvSpPr/>
          <p:nvPr/>
        </p:nvSpPr>
        <p:spPr>
          <a:xfrm>
            <a:off x="6199632" y="1828800"/>
            <a:ext cx="5440680" cy="4343400"/>
          </a:xfrm>
          <a:prstGeom prst="roundRect">
            <a:avLst>
              <a:gd name="adj" fmla="val 2947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7" name="text s10-7"/>
          <p:cNvSpPr txBox="1"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Current year: languages used</a:t>
            </a:r>
            <a:endParaRPr lang="en-US" sz="1400" dirty="0"/>
          </a:p>
        </p:txBody>
      </p:sp>
      <p:graphicFrame>
        <p:nvGraphicFramePr>
          <p:cNvPr id="8" name="chart s10-8" descr="Top 10 languages used this year"/>
          <p:cNvGraphicFramePr/>
          <p:nvPr/>
        </p:nvGraphicFramePr>
        <p:xfrm>
          <a:off x="685800" y="22860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s10-9"/>
          <p:cNvSpPr txBox="1"/>
          <p:nvPr/>
        </p:nvSpPr>
        <p:spPr>
          <a:xfrm>
            <a:off x="6428232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Next year: languages desired</a:t>
            </a:r>
            <a:endParaRPr lang="en-US" sz="1400" dirty="0"/>
          </a:p>
        </p:txBody>
      </p:sp>
      <p:graphicFrame>
        <p:nvGraphicFramePr>
          <p:cNvPr id="10" name="chart s10-10" descr="Top 10 languages desired next year"/>
          <p:cNvGraphicFramePr/>
          <p:nvPr/>
        </p:nvGraphicFramePr>
        <p:xfrm>
          <a:off x="6336792" y="22860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legend dot s10-11"/>
          <p:cNvSpPr/>
          <p:nvPr/>
        </p:nvSpPr>
        <p:spPr>
          <a:xfrm>
            <a:off x="3383280" y="2048256"/>
            <a:ext cx="146304" cy="146304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2" name="text s10-12"/>
          <p:cNvSpPr txBox="1"/>
          <p:nvPr/>
        </p:nvSpPr>
        <p:spPr>
          <a:xfrm>
            <a:off x="361188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Drops out of next year's top 10</a:t>
            </a:r>
            <a:endParaRPr lang="en-US" sz="1200" dirty="0"/>
          </a:p>
        </p:txBody>
      </p:sp>
      <p:sp>
        <p:nvSpPr>
          <p:cNvPr id="13" name="legend dot s10-13"/>
          <p:cNvSpPr/>
          <p:nvPr/>
        </p:nvSpPr>
        <p:spPr>
          <a:xfrm>
            <a:off x="9052560" y="2048256"/>
            <a:ext cx="146304" cy="146304"/>
          </a:xfrm>
          <a:prstGeom prst="ellipse">
            <a:avLst/>
          </a:prstGeom>
          <a:solidFill>
            <a:srgbClr val="E8693A"/>
          </a:solidFill>
          <a:ln w="12700">
            <a:solidFill>
              <a:srgbClr val="E8693A"/>
            </a:solidFill>
            <a:prstDash val="solid"/>
          </a:ln>
        </p:spPr>
      </p:sp>
      <p:sp>
        <p:nvSpPr>
          <p:cNvPr id="14" name="text s10-14"/>
          <p:cNvSpPr txBox="1"/>
          <p:nvPr/>
        </p:nvSpPr>
        <p:spPr>
          <a:xfrm>
            <a:off x="928116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New in next year's top 10</a:t>
            </a:r>
            <a:endParaRPr lang="en-US" sz="1200" dirty="0"/>
          </a:p>
        </p:txBody>
      </p:sp>
      <p:sp>
        <p:nvSpPr>
          <p:cNvPr id="25" name="Slide Number Placeholder 0 s10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Graphic spid="8" grpId="0">
        <p:bldAsOne/>
      </p:bldGraphic>
      <p:bldP spid="11" grpId="0" animBg="1"/>
      <p:bldP spid="12" grpId="0" animBg="1"/>
      <p:bldP spid="6" grpId="0" animBg="1"/>
      <p:bldP spid="9" grpId="0" animBg="1"/>
      <p:bldGraphic spid="10" grpId="0">
        <p:bldAsOne/>
      </p:bldGraphic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PROGRAMMING LANGUAGE TRENDS · FINDINGS &amp; IMPLICATIONS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Web and data skills stay core; Rust and Go are the ones to watch</a:t>
            </a:r>
            <a:endParaRPr lang="en-US" sz="3000" dirty="0"/>
          </a:p>
        </p:txBody>
      </p:sp>
      <p:sp>
        <p:nvSpPr>
          <p:cNvPr id="4" name="card s11-4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card s11-5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6" name="text s11-6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93A"/>
                </a:solidFill>
              </a:rPr>
              <a:t>FINDINGS</a:t>
            </a:r>
            <a:endParaRPr lang="en-US" sz="1400" dirty="0"/>
          </a:p>
        </p:txBody>
      </p:sp>
      <p:sp>
        <p:nvSpPr>
          <p:cNvPr id="7" name="text s11-7"/>
          <p:cNvSpPr txBox="1"/>
          <p:nvPr/>
        </p:nvSpPr>
        <p:spPr>
          <a:xfrm>
            <a:off x="6565392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87E5"/>
                </a:solidFill>
              </a:rPr>
              <a:t>IMPLICATIONS</a:t>
            </a:r>
            <a:endParaRPr lang="en-US" sz="1400" dirty="0"/>
          </a:p>
        </p:txBody>
      </p:sp>
      <p:sp>
        <p:nvSpPr>
          <p:cNvPr id="8" name="bullets s11-8"/>
          <p:cNvSpPr txBox="1"/>
          <p:nvPr/>
        </p:nvSpPr>
        <p:spPr>
          <a:xfrm>
            <a:off x="868680" y="237744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JavaScript is #1 in both years (14,943 used, 11,541 desired)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TypeScript moves up from 4th to 3rd place, overtaking HTML/CSS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Rust (5,597) and Go (5,661) enter the desired top 10; PHP and PowerShell leave it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Python stays 5th in both years</a:t>
            </a:r>
            <a:endParaRPr lang="en-US" sz="1900" dirty="0"/>
          </a:p>
        </p:txBody>
      </p:sp>
      <p:sp>
        <p:nvSpPr>
          <p:cNvPr id="9" name="bullets s11-9"/>
          <p:cNvSpPr txBox="1"/>
          <p:nvPr/>
        </p:nvSpPr>
        <p:spPr>
          <a:xfrm>
            <a:off x="6565392" y="237744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Web skills (JavaScript/TypeScript) remain a safe core investment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SQL stays essential for any data-related role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Training in Rust and Go can anticipate growing demand for systems and cloud development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Legacy languages (PHP, PowerShell) are losing interest</a:t>
            </a:r>
            <a:endParaRPr lang="en-US" sz="1900" dirty="0"/>
          </a:p>
        </p:txBody>
      </p:sp>
      <p:sp>
        <p:nvSpPr>
          <p:cNvPr id="25" name="Slide Number Placeholder 0 s11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DATABASE TRENDS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PostgreSQL widens its lead while Redis jumps to 2nd place</a:t>
            </a:r>
            <a:endParaRPr lang="en-US" sz="3000" dirty="0"/>
          </a:p>
        </p:txBody>
      </p:sp>
      <p:sp>
        <p:nvSpPr>
          <p:cNvPr id="4" name="subtitle s12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PostgreSQL leads both years with a growing gap; Redis jumps to 2nd place and Supabase enters next year's top 10.</a:t>
            </a:r>
            <a:endParaRPr lang="en-US" sz="1600" dirty="0"/>
          </a:p>
        </p:txBody>
      </p:sp>
      <p:sp>
        <p:nvSpPr>
          <p:cNvPr id="5" name="card s12-5"/>
          <p:cNvSpPr/>
          <p:nvPr/>
        </p:nvSpPr>
        <p:spPr>
          <a:xfrm>
            <a:off x="548640" y="1828800"/>
            <a:ext cx="5440680" cy="4343400"/>
          </a:xfrm>
          <a:prstGeom prst="roundRect">
            <a:avLst>
              <a:gd name="adj" fmla="val 2947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card s12-6"/>
          <p:cNvSpPr/>
          <p:nvPr/>
        </p:nvSpPr>
        <p:spPr>
          <a:xfrm>
            <a:off x="6199632" y="1828800"/>
            <a:ext cx="5440680" cy="4343400"/>
          </a:xfrm>
          <a:prstGeom prst="roundRect">
            <a:avLst>
              <a:gd name="adj" fmla="val 2947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7" name="text s12-7"/>
          <p:cNvSpPr txBox="1"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Current year: databases used</a:t>
            </a:r>
            <a:endParaRPr lang="en-US" sz="1400" dirty="0"/>
          </a:p>
        </p:txBody>
      </p:sp>
      <p:graphicFrame>
        <p:nvGraphicFramePr>
          <p:cNvPr id="8" name="chart s12-8" descr="Top 10 databases used this year"/>
          <p:cNvGraphicFramePr/>
          <p:nvPr/>
        </p:nvGraphicFramePr>
        <p:xfrm>
          <a:off x="685800" y="22860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s12-9"/>
          <p:cNvSpPr txBox="1"/>
          <p:nvPr/>
        </p:nvSpPr>
        <p:spPr>
          <a:xfrm>
            <a:off x="6428232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Next year: databases desired</a:t>
            </a:r>
            <a:endParaRPr lang="en-US" sz="1400" dirty="0"/>
          </a:p>
        </p:txBody>
      </p:sp>
      <p:graphicFrame>
        <p:nvGraphicFramePr>
          <p:cNvPr id="10" name="chart s12-10" descr="Top 10 databases desired next year"/>
          <p:cNvGraphicFramePr/>
          <p:nvPr/>
        </p:nvGraphicFramePr>
        <p:xfrm>
          <a:off x="6336792" y="228600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 s12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Graphic spid="8" grpId="0">
        <p:bldAsOne/>
      </p:bldGraphic>
      <p:bldP spid="6" grpId="0" animBg="1"/>
      <p:bldP spid="9" grpId="0" animBg="1"/>
      <p:bldGraphic spid="10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DATABASE TRENDS · FINDINGS &amp; IMPLICATIONS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PostgreSQL is the database skill to prioritize</a:t>
            </a:r>
            <a:endParaRPr lang="en-US" sz="3000" dirty="0"/>
          </a:p>
        </p:txBody>
      </p:sp>
      <p:sp>
        <p:nvSpPr>
          <p:cNvPr id="4" name="card s13-4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card s13-5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6" name="text s13-6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93A"/>
                </a:solidFill>
              </a:rPr>
              <a:t>FINDINGS</a:t>
            </a:r>
            <a:endParaRPr lang="en-US" sz="1400" dirty="0"/>
          </a:p>
        </p:txBody>
      </p:sp>
      <p:sp>
        <p:nvSpPr>
          <p:cNvPr id="7" name="text s13-7"/>
          <p:cNvSpPr txBox="1"/>
          <p:nvPr/>
        </p:nvSpPr>
        <p:spPr>
          <a:xfrm>
            <a:off x="6565392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87E5"/>
                </a:solidFill>
              </a:rPr>
              <a:t>IMPLICATIONS</a:t>
            </a:r>
            <a:endParaRPr lang="en-US" sz="1400" dirty="0"/>
          </a:p>
        </p:txBody>
      </p:sp>
      <p:sp>
        <p:nvSpPr>
          <p:cNvPr id="8" name="bullets s13-8"/>
          <p:cNvSpPr txBox="1"/>
          <p:nvPr/>
        </p:nvSpPr>
        <p:spPr>
          <a:xfrm>
            <a:off x="868680" y="237744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PostgreSQL is #1 in both years and grows from 11,514 to 12,193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Redis rises from 6th to 2nd place (6,384)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MySQL drops from 2nd to 4th (8,556 to 6,204)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Supabase enters the top 10; Oracle leaves it</a:t>
            </a:r>
            <a:endParaRPr lang="en-US" sz="1900" dirty="0"/>
          </a:p>
        </p:txBody>
      </p:sp>
      <p:sp>
        <p:nvSpPr>
          <p:cNvPr id="9" name="bullets s13-9"/>
          <p:cNvSpPr txBox="1"/>
          <p:nvPr/>
        </p:nvSpPr>
        <p:spPr>
          <a:xfrm>
            <a:off x="6565392" y="237744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PostgreSQL is the database skill to prioritize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Caching and in-memory stores (Redis) are becoming more relevant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Teams relying on MySQL or Oracle may need migration plans</a:t>
            </a:r>
            <a:endParaRPr lang="en-US" sz="19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1F5F9"/>
                </a:solidFill>
              </a:rPr>
              <a:t>Managed, developer-friendly services (Supabase) are gaining interest</a:t>
            </a:r>
            <a:endParaRPr lang="en-US" sz="1900" dirty="0"/>
          </a:p>
        </p:txBody>
      </p:sp>
      <p:sp>
        <p:nvSpPr>
          <p:cNvPr id="25" name="Slide Number Placeholder 0 s13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s14-2"/>
          <p:cNvSpPr txBox="1"/>
          <p:nvPr/>
        </p:nvSpPr>
        <p:spPr>
          <a:xfrm>
            <a:off x="7680960" y="82296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3987E5">
                    <a:alpha val="22000"/>
                  </a:srgbClr>
                </a:solidFill>
              </a:rPr>
              <a:t>02</a:t>
            </a:r>
            <a:endParaRPr lang="en-US" sz="26000" dirty="0"/>
          </a:p>
        </p:txBody>
      </p:sp>
      <p:sp>
        <p:nvSpPr>
          <p:cNvPr id="3" name="!!Kicker"/>
          <p:cNvSpPr/>
          <p:nvPr>
            <p:ph idx="100" type="body" hasCustomPrompt="1"/>
          </p:nvPr>
        </p:nvSpPr>
        <p:spPr>
          <a:xfrm>
            <a:off x="54864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DASHBOARD</a:t>
            </a:r>
            <a:endParaRPr lang="en-US" sz="1600" dirty="0"/>
          </a:p>
        </p:txBody>
      </p:sp>
      <p:sp>
        <p:nvSpPr>
          <p:cNvPr id="4" name="!!Title"/>
          <p:cNvSpPr/>
          <p:nvPr>
            <p:ph idx="101" type="title" hasCustomPrompt="1"/>
          </p:nvPr>
        </p:nvSpPr>
        <p:spPr>
          <a:xfrm>
            <a:off x="54864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interactive view: today, tomorrow and who answered</a:t>
            </a:r>
            <a:endParaRPr lang="en-US" sz="4000" dirty="0"/>
          </a:p>
        </p:txBody>
      </p:sp>
      <p:sp>
        <p:nvSpPr>
          <p:cNvPr id="5" name="!!Body"/>
          <p:cNvSpPr/>
          <p:nvPr>
            <p:ph idx="102" type="body" hasCustomPrompt="1"/>
          </p:nvPr>
        </p:nvSpPr>
        <p:spPr>
          <a:xfrm>
            <a:off x="54864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Google Looker Studio dashboard: Current Technology Usage, Future Technology Trends and Demographics</a:t>
            </a:r>
            <a:endParaRPr lang="en-US" sz="1800" dirty="0"/>
          </a:p>
        </p:txBody>
      </p:sp>
      <p:sp>
        <p:nvSpPr>
          <p:cNvPr id="25" name="Slide Number Placeholder 0 s14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DASHBOARD · TAB 1: CURRENT TECHNOLOGY USAGE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Today's stack: JavaScript, PostgreSQL, AWS and Node.js/React lead</a:t>
            </a:r>
            <a:endParaRPr lang="en-US" sz="3000" dirty="0"/>
          </a:p>
        </p:txBody>
      </p:sp>
      <p:sp>
        <p:nvSpPr>
          <p:cNvPr id="4" name="browser frame s15-4"/>
          <p:cNvSpPr/>
          <p:nvPr/>
        </p:nvSpPr>
        <p:spPr>
          <a:xfrm>
            <a:off x="548640" y="1508760"/>
            <a:ext cx="6309360" cy="4758239"/>
          </a:xfrm>
          <a:prstGeom prst="roundRect">
            <a:avLst>
              <a:gd name="adj" fmla="val 2306"/>
            </a:avLst>
          </a:prstGeom>
          <a:solidFill>
            <a:srgbClr val="1E293B"/>
          </a:solidFill>
          <a:ln w="12700">
            <a:solidFill>
              <a:srgbClr val="26334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0000"/>
              </a:srgbClr>
            </a:outerShdw>
          </a:effectLst>
        </p:spPr>
      </p:sp>
      <p:sp>
        <p:nvSpPr>
          <p:cNvPr id="5" name="window dot s15-5"/>
          <p:cNvSpPr/>
          <p:nvPr/>
        </p:nvSpPr>
        <p:spPr>
          <a:xfrm>
            <a:off x="731520" y="162763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window dot s15-6"/>
          <p:cNvSpPr/>
          <p:nvPr/>
        </p:nvSpPr>
        <p:spPr>
          <a:xfrm>
            <a:off x="950976" y="162763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window dot s15-7"/>
          <p:cNvSpPr/>
          <p:nvPr/>
        </p:nvSpPr>
        <p:spPr>
          <a:xfrm>
            <a:off x="1170432" y="162763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8" name="dashboard screenshot s15-8" descr="Dashboard · Tab 1: Current Technology Us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126480" cy="4301039"/>
          </a:xfrm>
          <a:prstGeom prst="rect">
            <a:avLst/>
          </a:prstGeom>
        </p:spPr>
      </p:pic>
      <p:sp>
        <p:nvSpPr>
          <p:cNvPr id="9" name="card s15-9"/>
          <p:cNvSpPr/>
          <p:nvPr/>
        </p:nvSpPr>
        <p:spPr>
          <a:xfrm>
            <a:off x="7086600" y="1508760"/>
            <a:ext cx="4553712" cy="4754880"/>
          </a:xfrm>
          <a:prstGeom prst="roundRect">
            <a:avLst>
              <a:gd name="adj" fmla="val 2811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s15-10"/>
          <p:cNvSpPr txBox="1"/>
          <p:nvPr/>
        </p:nvSpPr>
        <p:spPr>
          <a:xfrm>
            <a:off x="73609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693A"/>
                </a:solidFill>
              </a:rPr>
              <a:t>Key insights</a:t>
            </a:r>
            <a:endParaRPr lang="en-US" sz="1800" dirty="0"/>
          </a:p>
        </p:txBody>
      </p:sp>
      <p:sp>
        <p:nvSpPr>
          <p:cNvPr id="11" name="bullets s15-11"/>
          <p:cNvSpPr txBox="1"/>
          <p:nvPr/>
        </p:nvSpPr>
        <p:spPr>
          <a:xfrm>
            <a:off x="7360920" y="2194560"/>
            <a:ext cx="4069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JavaScript is the most used language (14,943), followed by SQL, HTML/CSS, TypeScript and Python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PostgreSQL leads the databases (11,514), ahead of MySQL and SQLite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AWS is the dominant cloud platform (10,871); Microsoft Azure and Google Cloud follow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Node.js (9,230) and React (8,999) far outpace every other web framework</a:t>
            </a:r>
            <a:endParaRPr lang="en-US" sz="1600" dirty="0"/>
          </a:p>
        </p:txBody>
      </p:sp>
      <p:sp>
        <p:nvSpPr>
          <p:cNvPr id="25" name="Slide Number Placeholder 0 s15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DASHBOARD · TAB 2: FUTURE TECHNOLOGY TRENDS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Tomorrow's stack: TypeScript, Rust, Go and Redis gain ground</a:t>
            </a:r>
            <a:endParaRPr lang="en-US" sz="3000" dirty="0"/>
          </a:p>
        </p:txBody>
      </p:sp>
      <p:sp>
        <p:nvSpPr>
          <p:cNvPr id="4" name="browser frame s16-4"/>
          <p:cNvSpPr/>
          <p:nvPr/>
        </p:nvSpPr>
        <p:spPr>
          <a:xfrm>
            <a:off x="548640" y="1508760"/>
            <a:ext cx="6309360" cy="4758239"/>
          </a:xfrm>
          <a:prstGeom prst="roundRect">
            <a:avLst>
              <a:gd name="adj" fmla="val 2306"/>
            </a:avLst>
          </a:prstGeom>
          <a:solidFill>
            <a:srgbClr val="1E293B"/>
          </a:solidFill>
          <a:ln w="12700">
            <a:solidFill>
              <a:srgbClr val="26334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0000"/>
              </a:srgbClr>
            </a:outerShdw>
          </a:effectLst>
        </p:spPr>
      </p:sp>
      <p:sp>
        <p:nvSpPr>
          <p:cNvPr id="5" name="window dot s16-5"/>
          <p:cNvSpPr/>
          <p:nvPr/>
        </p:nvSpPr>
        <p:spPr>
          <a:xfrm>
            <a:off x="731520" y="162763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window dot s16-6"/>
          <p:cNvSpPr/>
          <p:nvPr/>
        </p:nvSpPr>
        <p:spPr>
          <a:xfrm>
            <a:off x="950976" y="162763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window dot s16-7"/>
          <p:cNvSpPr/>
          <p:nvPr/>
        </p:nvSpPr>
        <p:spPr>
          <a:xfrm>
            <a:off x="1170432" y="162763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8" name="dashboard screenshot s16-8" descr="Dashboard · Tab 2: Future Technology Trend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126480" cy="4301039"/>
          </a:xfrm>
          <a:prstGeom prst="rect">
            <a:avLst/>
          </a:prstGeom>
        </p:spPr>
      </p:pic>
      <p:sp>
        <p:nvSpPr>
          <p:cNvPr id="9" name="card s16-9"/>
          <p:cNvSpPr/>
          <p:nvPr/>
        </p:nvSpPr>
        <p:spPr>
          <a:xfrm>
            <a:off x="7086600" y="1508760"/>
            <a:ext cx="4553712" cy="4754880"/>
          </a:xfrm>
          <a:prstGeom prst="roundRect">
            <a:avLst>
              <a:gd name="adj" fmla="val 2811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s16-10"/>
          <p:cNvSpPr txBox="1"/>
          <p:nvPr/>
        </p:nvSpPr>
        <p:spPr>
          <a:xfrm>
            <a:off x="73609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693A"/>
                </a:solidFill>
              </a:rPr>
              <a:t>Future trends</a:t>
            </a:r>
            <a:endParaRPr lang="en-US" sz="1800" dirty="0"/>
          </a:p>
        </p:txBody>
      </p:sp>
      <p:sp>
        <p:nvSpPr>
          <p:cNvPr id="11" name="bullets s16-11"/>
          <p:cNvSpPr txBox="1"/>
          <p:nvPr/>
        </p:nvSpPr>
        <p:spPr>
          <a:xfrm>
            <a:off x="7360920" y="2194560"/>
            <a:ext cx="4069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JavaScript, SQL and TypeScript stay on top; TypeScript overtakes HTML/CSS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Rust and Go enter the top 10, while PHP and PowerShell drop out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PostgreSQL widens its lead; Redis rises to 2nd place and Supabase appears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Cloudflare gains interest; Supabase replaces Heroku among platforms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React and Node.js remain the most wanted; jQuery leaves the top 10, FastAPI and Svelte enter</a:t>
            </a:r>
            <a:endParaRPr lang="en-US" sz="1500" dirty="0"/>
          </a:p>
        </p:txBody>
      </p:sp>
      <p:sp>
        <p:nvSpPr>
          <p:cNvPr id="25" name="Slide Number Placeholder 0 s16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DASHBOARD · TAB 3: DEMOGRAPHICS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Respondents are young, highly educated and mostly from the US</a:t>
            </a:r>
            <a:endParaRPr lang="en-US" sz="3000" dirty="0"/>
          </a:p>
        </p:txBody>
      </p:sp>
      <p:sp>
        <p:nvSpPr>
          <p:cNvPr id="4" name="browser frame s17-4"/>
          <p:cNvSpPr/>
          <p:nvPr/>
        </p:nvSpPr>
        <p:spPr>
          <a:xfrm>
            <a:off x="548640" y="1508760"/>
            <a:ext cx="6309360" cy="4758239"/>
          </a:xfrm>
          <a:prstGeom prst="roundRect">
            <a:avLst>
              <a:gd name="adj" fmla="val 2306"/>
            </a:avLst>
          </a:prstGeom>
          <a:solidFill>
            <a:srgbClr val="1E293B"/>
          </a:solidFill>
          <a:ln w="12700">
            <a:solidFill>
              <a:srgbClr val="26334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0000"/>
              </a:srgbClr>
            </a:outerShdw>
          </a:effectLst>
        </p:spPr>
      </p:sp>
      <p:sp>
        <p:nvSpPr>
          <p:cNvPr id="5" name="window dot s17-5"/>
          <p:cNvSpPr/>
          <p:nvPr/>
        </p:nvSpPr>
        <p:spPr>
          <a:xfrm>
            <a:off x="731520" y="162763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window dot s17-6"/>
          <p:cNvSpPr/>
          <p:nvPr/>
        </p:nvSpPr>
        <p:spPr>
          <a:xfrm>
            <a:off x="950976" y="162763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window dot s17-7"/>
          <p:cNvSpPr/>
          <p:nvPr/>
        </p:nvSpPr>
        <p:spPr>
          <a:xfrm>
            <a:off x="1170432" y="162763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pic>
        <p:nvPicPr>
          <p:cNvPr id="8" name="dashboard screenshot s17-8" descr="Dashboard · Tab 3: Demographic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126480" cy="4301039"/>
          </a:xfrm>
          <a:prstGeom prst="rect">
            <a:avLst/>
          </a:prstGeom>
        </p:spPr>
      </p:pic>
      <p:sp>
        <p:nvSpPr>
          <p:cNvPr id="9" name="card s17-9"/>
          <p:cNvSpPr/>
          <p:nvPr/>
        </p:nvSpPr>
        <p:spPr>
          <a:xfrm>
            <a:off x="7086600" y="1508760"/>
            <a:ext cx="4553712" cy="4754880"/>
          </a:xfrm>
          <a:prstGeom prst="roundRect">
            <a:avLst>
              <a:gd name="adj" fmla="val 2811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s17-10"/>
          <p:cNvSpPr txBox="1"/>
          <p:nvPr/>
        </p:nvSpPr>
        <p:spPr>
          <a:xfrm>
            <a:off x="73609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693A"/>
                </a:solidFill>
              </a:rPr>
              <a:t>Demographic insights</a:t>
            </a:r>
            <a:endParaRPr lang="en-US" sz="1800" dirty="0"/>
          </a:p>
        </p:txBody>
      </p:sp>
      <p:sp>
        <p:nvSpPr>
          <p:cNvPr id="11" name="bullets s17-11"/>
          <p:cNvSpPr txBox="1"/>
          <p:nvPr/>
        </p:nvSpPr>
        <p:spPr>
          <a:xfrm>
            <a:off x="7360920" y="2194560"/>
            <a:ext cx="4069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Respondents are young: 25-34 year olds are 41.3%, and 85% are under 45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The United States has the most respondents (3,441), followed by Germany (1,339) and India (1,316)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Bachelor's degree is the most common education level (45.8%), then Master's (26.5%)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</a:rPr>
              <a:t>Bachelor's degrees lead in every adult age group; Master's degrees weigh more from age 35 (about 30%)</a:t>
            </a:r>
            <a:endParaRPr lang="en-US" sz="1600" dirty="0"/>
          </a:p>
        </p:txBody>
      </p:sp>
      <p:sp>
        <p:nvSpPr>
          <p:cNvPr id="25" name="Slide Number Placeholder 0 s17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 s18-2"/>
          <p:cNvSpPr txBox="1"/>
          <p:nvPr/>
        </p:nvSpPr>
        <p:spPr>
          <a:xfrm>
            <a:off x="7680960" y="82296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3987E5">
                    <a:alpha val="22000"/>
                  </a:srgbClr>
                </a:solidFill>
              </a:rPr>
              <a:t>03</a:t>
            </a:r>
            <a:endParaRPr lang="en-US" sz="26000" dirty="0"/>
          </a:p>
        </p:txBody>
      </p:sp>
      <p:sp>
        <p:nvSpPr>
          <p:cNvPr id="3" name="!!Kicker"/>
          <p:cNvSpPr/>
          <p:nvPr>
            <p:ph idx="100" type="body" hasCustomPrompt="1"/>
          </p:nvPr>
        </p:nvSpPr>
        <p:spPr>
          <a:xfrm>
            <a:off x="54864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DISCUSSION &amp; CONCLUSION</a:t>
            </a:r>
            <a:endParaRPr lang="en-US" sz="1600" dirty="0"/>
          </a:p>
        </p:txBody>
      </p:sp>
      <p:sp>
        <p:nvSpPr>
          <p:cNvPr id="4" name="!!Title"/>
          <p:cNvSpPr/>
          <p:nvPr>
            <p:ph idx="101" type="title" hasCustomPrompt="1"/>
          </p:nvPr>
        </p:nvSpPr>
        <p:spPr>
          <a:xfrm>
            <a:off x="54864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it means for job seekers, companies and recruiters</a:t>
            </a:r>
            <a:endParaRPr lang="en-US" sz="4000" dirty="0"/>
          </a:p>
        </p:txBody>
      </p:sp>
      <p:sp>
        <p:nvSpPr>
          <p:cNvPr id="5" name="!!Body"/>
          <p:cNvSpPr/>
          <p:nvPr>
            <p:ph idx="102" type="body" hasCustomPrompt="1"/>
          </p:nvPr>
        </p:nvSpPr>
        <p:spPr>
          <a:xfrm>
            <a:off x="54864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Overall insights, findings &amp; implications, and conclusion</a:t>
            </a:r>
            <a:endParaRPr lang="en-US" sz="1800" dirty="0"/>
          </a:p>
        </p:txBody>
      </p:sp>
      <p:sp>
        <p:nvSpPr>
          <p:cNvPr id="25" name="Slide Number Placeholder 0 s18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top of the stack is stable; change happens in the middle</a:t>
            </a:r>
            <a:endParaRPr lang="en-US" sz="3000" dirty="0"/>
          </a:p>
        </p:txBody>
      </p:sp>
      <p:sp>
        <p:nvSpPr>
          <p:cNvPr id="4" name="subtitle s19-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Overall insights derived from the dashboards</a:t>
            </a:r>
            <a:endParaRPr lang="en-US" sz="1600" dirty="0"/>
          </a:p>
        </p:txBody>
      </p:sp>
      <p:sp>
        <p:nvSpPr>
          <p:cNvPr id="5" name="card s19-5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6" name="icon circle s19-6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7" name="icon s19-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66066"/>
            <a:ext cx="277612" cy="277612"/>
          </a:xfrm>
          <a:prstGeom prst="rect">
            <a:avLst/>
          </a:prstGeom>
        </p:spPr>
      </p:pic>
      <p:sp>
        <p:nvSpPr>
          <p:cNvPr id="8" name="text s19-8"/>
          <p:cNvSpPr txBox="1"/>
          <p:nvPr/>
        </p:nvSpPr>
        <p:spPr>
          <a:xfrm>
            <a:off x="1645920" y="2176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987E5"/>
                </a:solidFill>
              </a:rPr>
              <a:t>Stable core</a:t>
            </a:r>
            <a:endParaRPr lang="en-US" sz="1900" dirty="0"/>
          </a:p>
        </p:txBody>
      </p:sp>
      <p:sp>
        <p:nvSpPr>
          <p:cNvPr id="9" name="text s19-9"/>
          <p:cNvSpPr txBox="1"/>
          <p:nvPr/>
        </p:nvSpPr>
        <p:spPr>
          <a:xfrm>
            <a:off x="1645920" y="263347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The technology stack is stable at the top: JavaScript, SQL, PostgreSQL, AWS and React/Node.js lead in both current usage and future interest</a:t>
            </a:r>
            <a:endParaRPr lang="en-US" sz="1500" dirty="0"/>
          </a:p>
        </p:txBody>
      </p:sp>
      <p:sp>
        <p:nvSpPr>
          <p:cNvPr id="10" name="card s19-10"/>
          <p:cNvSpPr/>
          <p:nvPr/>
        </p:nvSpPr>
        <p:spPr>
          <a:xfrm>
            <a:off x="6172200" y="182880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1" name="icon circle s19-11"/>
          <p:cNvSpPr/>
          <p:nvPr/>
        </p:nvSpPr>
        <p:spPr>
          <a:xfrm>
            <a:off x="6446520" y="210312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E8693A"/>
            </a:solidFill>
            <a:prstDash val="solid"/>
          </a:ln>
        </p:spPr>
      </p:sp>
      <p:pic>
        <p:nvPicPr>
          <p:cNvPr id="12" name="icon s19-1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266066"/>
            <a:ext cx="277612" cy="277612"/>
          </a:xfrm>
          <a:prstGeom prst="rect">
            <a:avLst/>
          </a:prstGeom>
        </p:spPr>
      </p:pic>
      <p:sp>
        <p:nvSpPr>
          <p:cNvPr id="13" name="text s19-13"/>
          <p:cNvSpPr txBox="1"/>
          <p:nvPr/>
        </p:nvSpPr>
        <p:spPr>
          <a:xfrm>
            <a:off x="7269480" y="2176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8693A"/>
                </a:solidFill>
              </a:rPr>
              <a:t>Risers</a:t>
            </a:r>
            <a:endParaRPr lang="en-US" sz="1900" dirty="0"/>
          </a:p>
        </p:txBody>
      </p:sp>
      <p:sp>
        <p:nvSpPr>
          <p:cNvPr id="14" name="text s19-14"/>
          <p:cNvSpPr txBox="1"/>
          <p:nvPr/>
        </p:nvSpPr>
        <p:spPr>
          <a:xfrm>
            <a:off x="7269480" y="263347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Change happens in the middle of the rankings: Rust, Go, Redis, Supabase, FastAPI and Svelte are gaining ground</a:t>
            </a:r>
            <a:endParaRPr lang="en-US" sz="1500" dirty="0"/>
          </a:p>
        </p:txBody>
      </p:sp>
      <p:sp>
        <p:nvSpPr>
          <p:cNvPr id="15" name="card s19-15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6" name="icon circle s19-16"/>
          <p:cNvSpPr/>
          <p:nvPr/>
        </p:nvSpPr>
        <p:spPr>
          <a:xfrm>
            <a:off x="822960" y="429768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8B9AB3"/>
            </a:solidFill>
            <a:prstDash val="solid"/>
          </a:ln>
        </p:spPr>
      </p:sp>
      <p:pic>
        <p:nvPicPr>
          <p:cNvPr id="17" name="icon s19-17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460626"/>
            <a:ext cx="277612" cy="277612"/>
          </a:xfrm>
          <a:prstGeom prst="rect">
            <a:avLst/>
          </a:prstGeom>
        </p:spPr>
      </p:pic>
      <p:sp>
        <p:nvSpPr>
          <p:cNvPr id="18" name="text s19-18"/>
          <p:cNvSpPr txBox="1"/>
          <p:nvPr/>
        </p:nvSpPr>
        <p:spPr>
          <a:xfrm>
            <a:off x="1645920" y="4370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BD5E1"/>
                </a:solidFill>
              </a:rPr>
              <a:t>Fading</a:t>
            </a:r>
            <a:endParaRPr lang="en-US" sz="1900" dirty="0"/>
          </a:p>
        </p:txBody>
      </p:sp>
      <p:sp>
        <p:nvSpPr>
          <p:cNvPr id="19" name="text s19-19"/>
          <p:cNvSpPr txBox="1"/>
          <p:nvPr/>
        </p:nvSpPr>
        <p:spPr>
          <a:xfrm>
            <a:off x="1645920" y="482803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Older technologies (PHP, PowerShell, Oracle, jQuery, Heroku) are losing interest</a:t>
            </a:r>
            <a:endParaRPr lang="en-US" sz="1500" dirty="0"/>
          </a:p>
        </p:txBody>
      </p:sp>
      <p:sp>
        <p:nvSpPr>
          <p:cNvPr id="20" name="card s19-20"/>
          <p:cNvSpPr/>
          <p:nvPr/>
        </p:nvSpPr>
        <p:spPr>
          <a:xfrm>
            <a:off x="6172200" y="402336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1" name="icon circle s19-21"/>
          <p:cNvSpPr/>
          <p:nvPr/>
        </p:nvSpPr>
        <p:spPr>
          <a:xfrm>
            <a:off x="6446520" y="4297680"/>
            <a:ext cx="603504" cy="603504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2" name="icon s19-2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466" y="4460626"/>
            <a:ext cx="277612" cy="277612"/>
          </a:xfrm>
          <a:prstGeom prst="rect">
            <a:avLst/>
          </a:prstGeom>
        </p:spPr>
      </p:pic>
      <p:sp>
        <p:nvSpPr>
          <p:cNvPr id="23" name="text s19-23"/>
          <p:cNvSpPr txBox="1"/>
          <p:nvPr/>
        </p:nvSpPr>
        <p:spPr>
          <a:xfrm>
            <a:off x="7269480" y="4370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987E5"/>
                </a:solidFill>
              </a:rPr>
              <a:t>Caveat</a:t>
            </a:r>
            <a:endParaRPr lang="en-US" sz="1900" dirty="0"/>
          </a:p>
        </p:txBody>
      </p:sp>
      <p:sp>
        <p:nvSpPr>
          <p:cNvPr id="24" name="text s19-24"/>
          <p:cNvSpPr txBox="1"/>
          <p:nvPr/>
        </p:nvSpPr>
        <p:spPr>
          <a:xfrm>
            <a:off x="7269480" y="482803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The survey mainly reflects young, highly educated developers, mostly from the US and Europe, so results may not represent every market</a:t>
            </a:r>
            <a:endParaRPr lang="en-US" sz="1500" dirty="0"/>
          </a:p>
        </p:txBody>
      </p:sp>
      <p:sp>
        <p:nvSpPr>
          <p:cNvPr id="25" name="Slide Number Placeholder 0 s19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OVERALL FINDINGS &amp; IMPLICATIONS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Combine a solid core with one emerging skill</a:t>
            </a:r>
            <a:endParaRPr lang="en-US" sz="3000" dirty="0"/>
          </a:p>
        </p:txBody>
      </p:sp>
      <p:sp>
        <p:nvSpPr>
          <p:cNvPr id="4" name="text s20-4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93A"/>
                </a:solidFill>
              </a:rPr>
              <a:t>FINDINGS</a:t>
            </a:r>
            <a:endParaRPr lang="en-US" sz="1400" dirty="0"/>
          </a:p>
        </p:txBody>
      </p:sp>
      <p:sp>
        <p:nvSpPr>
          <p:cNvPr id="5" name="text s20-5"/>
          <p:cNvSpPr txBox="1"/>
          <p:nvPr/>
        </p:nvSpPr>
        <p:spPr>
          <a:xfrm>
            <a:off x="63550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87E5"/>
                </a:solidFill>
              </a:rPr>
              <a:t>IMPLICATIONS</a:t>
            </a:r>
            <a:endParaRPr lang="en-US" sz="1400" dirty="0"/>
          </a:p>
        </p:txBody>
      </p:sp>
      <p:sp>
        <p:nvSpPr>
          <p:cNvPr id="6" name="card s20-6"/>
          <p:cNvSpPr/>
          <p:nvPr/>
        </p:nvSpPr>
        <p:spPr>
          <a:xfrm>
            <a:off x="548640" y="1874520"/>
            <a:ext cx="5257800" cy="932688"/>
          </a:xfrm>
          <a:prstGeom prst="roundRect">
            <a:avLst>
              <a:gd name="adj" fmla="val 1372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7" name="text s20-7"/>
          <p:cNvSpPr txBox="1"/>
          <p:nvPr/>
        </p:nvSpPr>
        <p:spPr>
          <a:xfrm>
            <a:off x="822960" y="1874520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Core skills are stable: JavaScript, SQL, Python, PostgreSQL and AWS stay at the top</a:t>
            </a:r>
            <a:endParaRPr lang="en-US" sz="1500" dirty="0"/>
          </a:p>
        </p:txBody>
      </p:sp>
      <p:pic>
        <p:nvPicPr>
          <p:cNvPr id="8" name="arrow s20-8" descr="leads 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03704"/>
            <a:ext cx="274320" cy="274320"/>
          </a:xfrm>
          <a:prstGeom prst="rect">
            <a:avLst/>
          </a:prstGeom>
        </p:spPr>
      </p:pic>
      <p:sp>
        <p:nvSpPr>
          <p:cNvPr id="9" name="card s20-9"/>
          <p:cNvSpPr/>
          <p:nvPr/>
        </p:nvSpPr>
        <p:spPr>
          <a:xfrm>
            <a:off x="6355080" y="1874520"/>
            <a:ext cx="5285232" cy="932688"/>
          </a:xfrm>
          <a:prstGeom prst="roundRect">
            <a:avLst>
              <a:gd name="adj" fmla="val 1372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s20-10"/>
          <p:cNvSpPr txBox="1"/>
          <p:nvPr/>
        </p:nvSpPr>
        <p:spPr>
          <a:xfrm>
            <a:off x="6629400" y="1874520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Job seekers should combine a solid core (SQL, JavaScript/Python) with one emerging skill</a:t>
            </a:r>
            <a:endParaRPr lang="en-US" sz="1500" dirty="0"/>
          </a:p>
        </p:txBody>
      </p:sp>
      <p:sp>
        <p:nvSpPr>
          <p:cNvPr id="11" name="card s20-11"/>
          <p:cNvSpPr/>
          <p:nvPr/>
        </p:nvSpPr>
        <p:spPr>
          <a:xfrm>
            <a:off x="548640" y="2953512"/>
            <a:ext cx="5257800" cy="932688"/>
          </a:xfrm>
          <a:prstGeom prst="roundRect">
            <a:avLst>
              <a:gd name="adj" fmla="val 1372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2" name="text s20-12"/>
          <p:cNvSpPr txBox="1"/>
          <p:nvPr/>
        </p:nvSpPr>
        <p:spPr>
          <a:xfrm>
            <a:off x="822960" y="2953512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Modern alternatives grow: TypeScript, Rust, Go, Redis and Next.js gain ground</a:t>
            </a:r>
            <a:endParaRPr lang="en-US" sz="1500" dirty="0"/>
          </a:p>
        </p:txBody>
      </p:sp>
      <p:pic>
        <p:nvPicPr>
          <p:cNvPr id="13" name="arrow s20-13" descr="leads 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82696"/>
            <a:ext cx="274320" cy="274320"/>
          </a:xfrm>
          <a:prstGeom prst="rect">
            <a:avLst/>
          </a:prstGeom>
        </p:spPr>
      </p:pic>
      <p:sp>
        <p:nvSpPr>
          <p:cNvPr id="14" name="card s20-14"/>
          <p:cNvSpPr/>
          <p:nvPr/>
        </p:nvSpPr>
        <p:spPr>
          <a:xfrm>
            <a:off x="6355080" y="2953512"/>
            <a:ext cx="5285232" cy="932688"/>
          </a:xfrm>
          <a:prstGeom prst="roundRect">
            <a:avLst>
              <a:gd name="adj" fmla="val 1372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5" name="text s20-15"/>
          <p:cNvSpPr txBox="1"/>
          <p:nvPr/>
        </p:nvSpPr>
        <p:spPr>
          <a:xfrm>
            <a:off x="6629400" y="295351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Companies should plan training on TypeScript, Rust/Go and cloud platforms</a:t>
            </a:r>
            <a:endParaRPr lang="en-US" sz="1500" dirty="0"/>
          </a:p>
        </p:txBody>
      </p:sp>
      <p:sp>
        <p:nvSpPr>
          <p:cNvPr id="16" name="card s20-16"/>
          <p:cNvSpPr/>
          <p:nvPr/>
        </p:nvSpPr>
        <p:spPr>
          <a:xfrm>
            <a:off x="548640" y="4032504"/>
            <a:ext cx="5257800" cy="932688"/>
          </a:xfrm>
          <a:prstGeom prst="roundRect">
            <a:avLst>
              <a:gd name="adj" fmla="val 1372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7" name="text s20-17"/>
          <p:cNvSpPr txBox="1"/>
          <p:nvPr/>
        </p:nvSpPr>
        <p:spPr>
          <a:xfrm>
            <a:off x="822960" y="4032504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Demand is concentrated geographically (Washington DC, Detroit, Seattle, New York)</a:t>
            </a:r>
            <a:endParaRPr lang="en-US" sz="1500" dirty="0"/>
          </a:p>
        </p:txBody>
      </p:sp>
      <p:pic>
        <p:nvPicPr>
          <p:cNvPr id="18" name="arrow s20-18" descr="leads 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361688"/>
            <a:ext cx="274320" cy="274320"/>
          </a:xfrm>
          <a:prstGeom prst="rect">
            <a:avLst/>
          </a:prstGeom>
        </p:spPr>
      </p:pic>
      <p:sp>
        <p:nvSpPr>
          <p:cNvPr id="19" name="card s20-19"/>
          <p:cNvSpPr/>
          <p:nvPr/>
        </p:nvSpPr>
        <p:spPr>
          <a:xfrm>
            <a:off x="6355080" y="4032504"/>
            <a:ext cx="5285232" cy="932688"/>
          </a:xfrm>
          <a:prstGeom prst="roundRect">
            <a:avLst>
              <a:gd name="adj" fmla="val 1372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0" name="text s20-20"/>
          <p:cNvSpPr txBox="1"/>
          <p:nvPr/>
        </p:nvSpPr>
        <p:spPr>
          <a:xfrm>
            <a:off x="6629400" y="4032504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Recruiting efforts can focus on the cities with the most postings</a:t>
            </a:r>
            <a:endParaRPr lang="en-US" sz="1500" dirty="0"/>
          </a:p>
        </p:txBody>
      </p:sp>
      <p:sp>
        <p:nvSpPr>
          <p:cNvPr id="21" name="card s20-21"/>
          <p:cNvSpPr/>
          <p:nvPr/>
        </p:nvSpPr>
        <p:spPr>
          <a:xfrm>
            <a:off x="548640" y="5111496"/>
            <a:ext cx="5257800" cy="932688"/>
          </a:xfrm>
          <a:prstGeom prst="roundRect">
            <a:avLst>
              <a:gd name="adj" fmla="val 1372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2" name="text s20-22"/>
          <p:cNvSpPr txBox="1"/>
          <p:nvPr/>
        </p:nvSpPr>
        <p:spPr>
          <a:xfrm>
            <a:off x="822960" y="5111496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Salary does not follow popularity: Swift pays the most, SQL and PHP the least</a:t>
            </a:r>
            <a:endParaRPr lang="en-US" sz="1500" dirty="0"/>
          </a:p>
        </p:txBody>
      </p:sp>
      <p:pic>
        <p:nvPicPr>
          <p:cNvPr id="23" name="arrow s20-23" descr="leads 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440680"/>
            <a:ext cx="274320" cy="274320"/>
          </a:xfrm>
          <a:prstGeom prst="rect">
            <a:avLst/>
          </a:prstGeom>
        </p:spPr>
      </p:pic>
      <p:sp>
        <p:nvSpPr>
          <p:cNvPr id="24" name="card s20-24"/>
          <p:cNvSpPr/>
          <p:nvPr/>
        </p:nvSpPr>
        <p:spPr>
          <a:xfrm>
            <a:off x="6355080" y="5111496"/>
            <a:ext cx="5285232" cy="932688"/>
          </a:xfrm>
          <a:prstGeom prst="roundRect">
            <a:avLst>
              <a:gd name="adj" fmla="val 1372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5" name="text s20-25"/>
          <p:cNvSpPr txBox="1"/>
          <p:nvPr/>
        </p:nvSpPr>
        <p:spPr>
          <a:xfrm>
            <a:off x="6629400" y="5111496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Niche skills such as Swift can command a salary premium</a:t>
            </a:r>
            <a:endParaRPr lang="en-US" sz="1500" dirty="0"/>
          </a:p>
        </p:txBody>
      </p:sp>
      <p:sp>
        <p:nvSpPr>
          <p:cNvPr id="25" name="Slide Number Placeholder 0 s20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Learn the stable core, watch the risers, follow the market</a:t>
            </a:r>
            <a:endParaRPr lang="en-US" sz="3000" dirty="0"/>
          </a:p>
        </p:txBody>
      </p:sp>
      <p:sp>
        <p:nvSpPr>
          <p:cNvPr id="4" name="card s21-4"/>
          <p:cNvSpPr/>
          <p:nvPr/>
        </p:nvSpPr>
        <p:spPr>
          <a:xfrm>
            <a:off x="548640" y="164592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21-5"/>
          <p:cNvSpPr txBox="1"/>
          <p:nvPr/>
        </p:nvSpPr>
        <p:spPr>
          <a:xfrm>
            <a:off x="82296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987E5"/>
                </a:solidFill>
              </a:rPr>
              <a:t>01</a:t>
            </a:r>
            <a:endParaRPr lang="en-US" sz="3400" dirty="0"/>
          </a:p>
        </p:txBody>
      </p:sp>
      <p:sp>
        <p:nvSpPr>
          <p:cNvPr id="6" name="icon circle s21-6"/>
          <p:cNvSpPr/>
          <p:nvPr/>
        </p:nvSpPr>
        <p:spPr>
          <a:xfrm>
            <a:off x="5120640" y="1874520"/>
            <a:ext cx="548640" cy="548640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7" name="icon s21-7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8773" y="2022653"/>
            <a:ext cx="252374" cy="252374"/>
          </a:xfrm>
          <a:prstGeom prst="rect">
            <a:avLst/>
          </a:prstGeom>
        </p:spPr>
      </p:pic>
      <p:sp>
        <p:nvSpPr>
          <p:cNvPr id="8" name="text s21-8"/>
          <p:cNvSpPr txBox="1"/>
          <p:nvPr/>
        </p:nvSpPr>
        <p:spPr>
          <a:xfrm>
            <a:off x="822960" y="2560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1F5F9"/>
                </a:solidFill>
              </a:rPr>
              <a:t>JavaScript, SQL and PostgreSQL are the most widely used technologies and remain the most desired</a:t>
            </a:r>
            <a:endParaRPr lang="en-US" sz="1900" dirty="0"/>
          </a:p>
        </p:txBody>
      </p:sp>
      <p:sp>
        <p:nvSpPr>
          <p:cNvPr id="9" name="card s21-9"/>
          <p:cNvSpPr/>
          <p:nvPr/>
        </p:nvSpPr>
        <p:spPr>
          <a:xfrm>
            <a:off x="6172200" y="164592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E8693A"/>
            </a:solidFill>
            <a:prstDash val="solid"/>
          </a:ln>
        </p:spPr>
      </p:sp>
      <p:sp>
        <p:nvSpPr>
          <p:cNvPr id="10" name="text s21-10"/>
          <p:cNvSpPr txBox="1"/>
          <p:nvPr/>
        </p:nvSpPr>
        <p:spPr>
          <a:xfrm>
            <a:off x="64465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693A"/>
                </a:solidFill>
              </a:rPr>
              <a:t>02</a:t>
            </a:r>
            <a:endParaRPr lang="en-US" sz="3400" dirty="0"/>
          </a:p>
        </p:txBody>
      </p:sp>
      <p:sp>
        <p:nvSpPr>
          <p:cNvPr id="11" name="icon circle s21-11"/>
          <p:cNvSpPr/>
          <p:nvPr/>
        </p:nvSpPr>
        <p:spPr>
          <a:xfrm>
            <a:off x="10744200" y="1874520"/>
            <a:ext cx="548640" cy="548640"/>
          </a:xfrm>
          <a:prstGeom prst="ellipse">
            <a:avLst/>
          </a:prstGeom>
          <a:solidFill>
            <a:srgbClr val="1B2C4D"/>
          </a:solidFill>
          <a:ln w="12700">
            <a:solidFill>
              <a:srgbClr val="E8693A"/>
            </a:solidFill>
            <a:prstDash val="solid"/>
          </a:ln>
        </p:spPr>
      </p:sp>
      <p:pic>
        <p:nvPicPr>
          <p:cNvPr id="12" name="icon s21-1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333" y="2022653"/>
            <a:ext cx="252374" cy="252374"/>
          </a:xfrm>
          <a:prstGeom prst="rect">
            <a:avLst/>
          </a:prstGeom>
        </p:spPr>
      </p:pic>
      <p:sp>
        <p:nvSpPr>
          <p:cNvPr id="13" name="text s21-13"/>
          <p:cNvSpPr txBox="1"/>
          <p:nvPr/>
        </p:nvSpPr>
        <p:spPr>
          <a:xfrm>
            <a:off x="6446520" y="2560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1F5F9"/>
                </a:solidFill>
              </a:rPr>
              <a:t>Rust, Go, TypeScript and Redis are the main growing technologies for next year</a:t>
            </a:r>
            <a:endParaRPr lang="en-US" sz="1900" dirty="0"/>
          </a:p>
        </p:txBody>
      </p:sp>
      <p:sp>
        <p:nvSpPr>
          <p:cNvPr id="14" name="card s21-14"/>
          <p:cNvSpPr/>
          <p:nvPr/>
        </p:nvSpPr>
        <p:spPr>
          <a:xfrm>
            <a:off x="548640" y="393192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5" name="text s21-15"/>
          <p:cNvSpPr txBox="1"/>
          <p:nvPr/>
        </p:nvSpPr>
        <p:spPr>
          <a:xfrm>
            <a:off x="822960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987E5"/>
                </a:solidFill>
              </a:rPr>
              <a:t>03</a:t>
            </a:r>
            <a:endParaRPr lang="en-US" sz="3400" dirty="0"/>
          </a:p>
        </p:txBody>
      </p:sp>
      <p:sp>
        <p:nvSpPr>
          <p:cNvPr id="16" name="icon circle s21-16"/>
          <p:cNvSpPr/>
          <p:nvPr/>
        </p:nvSpPr>
        <p:spPr>
          <a:xfrm>
            <a:off x="5120640" y="4160520"/>
            <a:ext cx="548640" cy="548640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17" name="icon s21-17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73" y="4308653"/>
            <a:ext cx="252374" cy="252374"/>
          </a:xfrm>
          <a:prstGeom prst="rect">
            <a:avLst/>
          </a:prstGeom>
        </p:spPr>
      </p:pic>
      <p:sp>
        <p:nvSpPr>
          <p:cNvPr id="18" name="text s21-18"/>
          <p:cNvSpPr txBox="1"/>
          <p:nvPr/>
        </p:nvSpPr>
        <p:spPr>
          <a:xfrm>
            <a:off x="822960" y="4846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1F5F9"/>
                </a:solidFill>
              </a:rPr>
              <a:t>AWS, Azure and Google Cloud dominate cloud platforms; React and Node.js dominate web frameworks</a:t>
            </a:r>
            <a:endParaRPr lang="en-US" sz="1900" dirty="0"/>
          </a:p>
        </p:txBody>
      </p:sp>
      <p:sp>
        <p:nvSpPr>
          <p:cNvPr id="19" name="card s21-19"/>
          <p:cNvSpPr/>
          <p:nvPr/>
        </p:nvSpPr>
        <p:spPr>
          <a:xfrm>
            <a:off x="6172200" y="3931920"/>
            <a:ext cx="5394960" cy="2057400"/>
          </a:xfrm>
          <a:prstGeom prst="roundRect">
            <a:avLst>
              <a:gd name="adj" fmla="val 6222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20" name="text s21-20"/>
          <p:cNvSpPr txBox="1"/>
          <p:nvPr/>
        </p:nvSpPr>
        <p:spPr>
          <a:xfrm>
            <a:off x="6446520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987E5"/>
                </a:solidFill>
              </a:rPr>
              <a:t>04</a:t>
            </a:r>
            <a:endParaRPr lang="en-US" sz="3400" dirty="0"/>
          </a:p>
        </p:txBody>
      </p:sp>
      <p:sp>
        <p:nvSpPr>
          <p:cNvPr id="21" name="icon circle s21-21"/>
          <p:cNvSpPr/>
          <p:nvPr/>
        </p:nvSpPr>
        <p:spPr>
          <a:xfrm>
            <a:off x="10744200" y="4160520"/>
            <a:ext cx="548640" cy="548640"/>
          </a:xfrm>
          <a:prstGeom prst="ellipse">
            <a:avLst/>
          </a:prstGeom>
          <a:solidFill>
            <a:srgbClr val="1B2C4D"/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22" name="icon s21-2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2333" y="4308653"/>
            <a:ext cx="252374" cy="252374"/>
          </a:xfrm>
          <a:prstGeom prst="rect">
            <a:avLst/>
          </a:prstGeom>
        </p:spPr>
      </p:pic>
      <p:sp>
        <p:nvSpPr>
          <p:cNvPr id="23" name="text s21-23"/>
          <p:cNvSpPr txBox="1"/>
          <p:nvPr/>
        </p:nvSpPr>
        <p:spPr>
          <a:xfrm>
            <a:off x="6446520" y="4846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F1F5F9"/>
                </a:solidFill>
              </a:rPr>
              <a:t>Job opportunities and salaries vary strongly by location and language: monitoring them helps target skills and recruiting</a:t>
            </a:r>
            <a:endParaRPr lang="en-US" sz="1900" dirty="0"/>
          </a:p>
        </p:txBody>
      </p:sp>
      <p:sp>
        <p:nvSpPr>
          <p:cNvPr id="25" name="Slide Number Placeholder 0 s21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Respondents come from 161 countries, led by the United States</a:t>
            </a:r>
            <a:endParaRPr lang="en-US" sz="3000" dirty="0"/>
          </a:p>
        </p:txBody>
      </p:sp>
      <p:sp>
        <p:nvSpPr>
          <p:cNvPr id="4" name="card s22-4"/>
          <p:cNvSpPr/>
          <p:nvPr/>
        </p:nvSpPr>
        <p:spPr>
          <a:xfrm>
            <a:off x="548640" y="1508760"/>
            <a:ext cx="7589520" cy="4663440"/>
          </a:xfrm>
          <a:prstGeom prst="roundRect">
            <a:avLst>
              <a:gd name="adj" fmla="val 274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22-5"/>
          <p:cNvSpPr txBox="1"/>
          <p:nvPr/>
        </p:nvSpPr>
        <p:spPr>
          <a:xfrm>
            <a:off x="822960" y="169164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Top 10 countries by number of survey respondents (161 countries in total)</a:t>
            </a:r>
            <a:endParaRPr lang="en-US" sz="1400" dirty="0"/>
          </a:p>
        </p:txBody>
      </p:sp>
      <p:graphicFrame>
        <p:nvGraphicFramePr>
          <p:cNvPr id="6" name="chart s22-6" descr="Top 10 countries by respondents"/>
          <p:cNvGraphicFramePr/>
          <p:nvPr/>
        </p:nvGraphicFramePr>
        <p:xfrm>
          <a:off x="731520" y="2011680"/>
          <a:ext cx="7178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s22-7"/>
          <p:cNvSpPr/>
          <p:nvPr/>
        </p:nvSpPr>
        <p:spPr>
          <a:xfrm>
            <a:off x="8412480" y="1508760"/>
            <a:ext cx="3227832" cy="2377440"/>
          </a:xfrm>
          <a:prstGeom prst="roundRect">
            <a:avLst>
              <a:gd name="adj" fmla="val 538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8" name="text s22-8"/>
          <p:cNvSpPr txBox="1"/>
          <p:nvPr/>
        </p:nvSpPr>
        <p:spPr>
          <a:xfrm>
            <a:off x="868680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987E5"/>
                </a:solidFill>
              </a:rPr>
              <a:t>3,441</a:t>
            </a:r>
            <a:endParaRPr lang="en-US" sz="4800" dirty="0"/>
          </a:p>
        </p:txBody>
      </p:sp>
      <p:sp>
        <p:nvSpPr>
          <p:cNvPr id="9" name="text s22-9"/>
          <p:cNvSpPr txBox="1"/>
          <p:nvPr/>
        </p:nvSpPr>
        <p:spPr>
          <a:xfrm>
            <a:off x="8686800" y="2514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respondents from the United States, more than Germany (1,339) and India (1,316) together</a:t>
            </a:r>
            <a:endParaRPr lang="en-US" sz="1400" dirty="0"/>
          </a:p>
        </p:txBody>
      </p:sp>
      <p:sp>
        <p:nvSpPr>
          <p:cNvPr id="25" name="Slide Number Placeholder 0 s22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Median pay rises with age, peaking at about $110K at 55-64</a:t>
            </a:r>
            <a:endParaRPr lang="en-US" sz="3000" dirty="0"/>
          </a:p>
        </p:txBody>
      </p:sp>
      <p:sp>
        <p:nvSpPr>
          <p:cNvPr id="4" name="card s23-4"/>
          <p:cNvSpPr/>
          <p:nvPr/>
        </p:nvSpPr>
        <p:spPr>
          <a:xfrm>
            <a:off x="548640" y="1508760"/>
            <a:ext cx="7589520" cy="4663440"/>
          </a:xfrm>
          <a:prstGeom prst="roundRect">
            <a:avLst>
              <a:gd name="adj" fmla="val 2745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23-5"/>
          <p:cNvSpPr txBox="1"/>
          <p:nvPr/>
        </p:nvSpPr>
        <p:spPr>
          <a:xfrm>
            <a:off x="822960" y="1691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Median yearly compensation (USD) by age group · Python (pandas), notebooks 16-17</a:t>
            </a:r>
            <a:endParaRPr lang="en-US" sz="1400" dirty="0"/>
          </a:p>
        </p:txBody>
      </p:sp>
      <p:graphicFrame>
        <p:nvGraphicFramePr>
          <p:cNvPr id="6" name="chart s23-6" descr="Median compensation by age group"/>
          <p:cNvGraphicFramePr/>
          <p:nvPr/>
        </p:nvGraphicFramePr>
        <p:xfrm>
          <a:off x="731520" y="2103120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s23-7"/>
          <p:cNvSpPr/>
          <p:nvPr/>
        </p:nvSpPr>
        <p:spPr>
          <a:xfrm>
            <a:off x="8412480" y="1508760"/>
            <a:ext cx="3227832" cy="2377440"/>
          </a:xfrm>
          <a:prstGeom prst="roundRect">
            <a:avLst>
              <a:gd name="adj" fmla="val 5385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E8693A"/>
            </a:solidFill>
            <a:prstDash val="solid"/>
          </a:ln>
        </p:spPr>
      </p:sp>
      <p:sp>
        <p:nvSpPr>
          <p:cNvPr id="8" name="text s23-8"/>
          <p:cNvSpPr txBox="1"/>
          <p:nvPr/>
        </p:nvSpPr>
        <p:spPr>
          <a:xfrm>
            <a:off x="8686800" y="1691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93A"/>
                </a:solidFill>
              </a:rPr>
              <a:t>~$25K → ~$110K</a:t>
            </a:r>
            <a:endParaRPr lang="en-US" sz="2800" dirty="0"/>
          </a:p>
        </p:txBody>
      </p:sp>
      <p:sp>
        <p:nvSpPr>
          <p:cNvPr id="9" name="text s23-9"/>
          <p:cNvSpPr txBox="1"/>
          <p:nvPr/>
        </p:nvSpPr>
        <p:spPr>
          <a:xfrm>
            <a:off x="8686800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Median pay rises steadily with age, from about $25K (18-24) to a peak of about $110K (55-64)</a:t>
            </a:r>
            <a:endParaRPr lang="en-US" sz="1400" dirty="0"/>
          </a:p>
        </p:txBody>
      </p:sp>
      <p:sp>
        <p:nvSpPr>
          <p:cNvPr id="25" name="Slide Number Placeholder 0 s23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!!Title"/>
          <p:cNvSpPr/>
          <p:nvPr>
            <p:ph idx="101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US developers earn 8.5x the median pay of developers in India</a:t>
            </a:r>
            <a:endParaRPr lang="en-US" sz="3000" dirty="0"/>
          </a:p>
        </p:txBody>
      </p:sp>
      <p:sp>
        <p:nvSpPr>
          <p:cNvPr id="4" name="card s24-4"/>
          <p:cNvSpPr/>
          <p:nvPr/>
        </p:nvSpPr>
        <p:spPr>
          <a:xfrm>
            <a:off x="548640" y="1508760"/>
            <a:ext cx="7269480" cy="4343400"/>
          </a:xfrm>
          <a:prstGeom prst="roundRect">
            <a:avLst>
              <a:gd name="adj" fmla="val 2947"/>
            </a:avLst>
          </a:prstGeom>
          <a:solidFill>
            <a:srgbClr val="16213A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5" name="text s24-5"/>
          <p:cNvSpPr txBox="1"/>
          <p:nvPr/>
        </p:nvSpPr>
        <p:spPr>
          <a:xfrm>
            <a:off x="822960" y="1691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Median yearly compensation (USD) in the top 10 countries by respondents</a:t>
            </a:r>
            <a:endParaRPr lang="en-US" sz="1400" dirty="0"/>
          </a:p>
        </p:txBody>
      </p:sp>
      <p:graphicFrame>
        <p:nvGraphicFramePr>
          <p:cNvPr id="6" name="chart s24-6" descr="Median compensation by country"/>
          <p:cNvGraphicFramePr/>
          <p:nvPr/>
        </p:nvGraphicFramePr>
        <p:xfrm>
          <a:off x="731520" y="201168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s24-7"/>
          <p:cNvSpPr/>
          <p:nvPr/>
        </p:nvSpPr>
        <p:spPr>
          <a:xfrm>
            <a:off x="8046720" y="1508760"/>
            <a:ext cx="1764792" cy="2057400"/>
          </a:xfrm>
          <a:prstGeom prst="roundRect">
            <a:avLst>
              <a:gd name="adj" fmla="val 7254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8" name="text s24-8"/>
          <p:cNvSpPr txBox="1"/>
          <p:nvPr/>
        </p:nvSpPr>
        <p:spPr>
          <a:xfrm>
            <a:off x="8202168" y="1673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987E5"/>
                </a:solidFill>
              </a:rPr>
              <a:t>$65,000</a:t>
            </a:r>
            <a:endParaRPr lang="en-US" sz="2300" dirty="0"/>
          </a:p>
        </p:txBody>
      </p:sp>
      <p:sp>
        <p:nvSpPr>
          <p:cNvPr id="9" name="text s24-9"/>
          <p:cNvSpPr txBox="1"/>
          <p:nvPr/>
        </p:nvSpPr>
        <p:spPr>
          <a:xfrm>
            <a:off x="8202168" y="21945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Overall median yearly compensation (respondents reporting pay)</a:t>
            </a:r>
            <a:endParaRPr lang="en-US" sz="1200" dirty="0"/>
          </a:p>
        </p:txBody>
      </p:sp>
      <p:sp>
        <p:nvSpPr>
          <p:cNvPr id="10" name="card s24-10"/>
          <p:cNvSpPr/>
          <p:nvPr/>
        </p:nvSpPr>
        <p:spPr>
          <a:xfrm>
            <a:off x="9875520" y="1508760"/>
            <a:ext cx="1764792" cy="2057400"/>
          </a:xfrm>
          <a:prstGeom prst="roundRect">
            <a:avLst>
              <a:gd name="adj" fmla="val 7254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1" name="text s24-11"/>
          <p:cNvSpPr txBox="1"/>
          <p:nvPr/>
        </p:nvSpPr>
        <p:spPr>
          <a:xfrm>
            <a:off x="10030968" y="1673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987E5"/>
                </a:solidFill>
              </a:rPr>
              <a:t>$69,814</a:t>
            </a:r>
            <a:endParaRPr lang="en-US" sz="2300" dirty="0"/>
          </a:p>
        </p:txBody>
      </p:sp>
      <p:sp>
        <p:nvSpPr>
          <p:cNvPr id="12" name="text s24-12"/>
          <p:cNvSpPr txBox="1"/>
          <p:nvPr/>
        </p:nvSpPr>
        <p:spPr>
          <a:xfrm>
            <a:off x="10030968" y="21945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Median yearly compensation of full-time employees</a:t>
            </a:r>
            <a:endParaRPr lang="en-US" sz="1200" dirty="0"/>
          </a:p>
        </p:txBody>
      </p:sp>
      <p:sp>
        <p:nvSpPr>
          <p:cNvPr id="13" name="card s24-13"/>
          <p:cNvSpPr/>
          <p:nvPr/>
        </p:nvSpPr>
        <p:spPr>
          <a:xfrm>
            <a:off x="8046720" y="3703320"/>
            <a:ext cx="1764792" cy="2057400"/>
          </a:xfrm>
          <a:prstGeom prst="roundRect">
            <a:avLst>
              <a:gd name="adj" fmla="val 7254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4" name="text s24-14"/>
          <p:cNvSpPr txBox="1"/>
          <p:nvPr/>
        </p:nvSpPr>
        <p:spPr>
          <a:xfrm>
            <a:off x="8202168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693A"/>
                </a:solidFill>
              </a:rPr>
              <a:t>r = 0.41</a:t>
            </a:r>
            <a:endParaRPr lang="en-US" sz="2300" dirty="0"/>
          </a:p>
        </p:txBody>
      </p:sp>
      <p:sp>
        <p:nvSpPr>
          <p:cNvPr id="15" name="text s24-15"/>
          <p:cNvSpPr txBox="1"/>
          <p:nvPr/>
        </p:nvSpPr>
        <p:spPr>
          <a:xfrm>
            <a:off x="8202168" y="43891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Correlation between compensation and work experience (outliers removed)</a:t>
            </a:r>
            <a:endParaRPr lang="en-US" sz="1200" dirty="0"/>
          </a:p>
        </p:txBody>
      </p:sp>
      <p:sp>
        <p:nvSpPr>
          <p:cNvPr id="16" name="card s24-16"/>
          <p:cNvSpPr/>
          <p:nvPr/>
        </p:nvSpPr>
        <p:spPr>
          <a:xfrm>
            <a:off x="9875520" y="3703320"/>
            <a:ext cx="1764792" cy="2057400"/>
          </a:xfrm>
          <a:prstGeom prst="roundRect">
            <a:avLst>
              <a:gd name="adj" fmla="val 7254"/>
            </a:avLst>
          </a:prstGeom>
          <a:solidFill>
            <a:srgbClr val="1B2C4D">
              <a:alpha val="92000"/>
            </a:srgbClr>
          </a:solidFill>
          <a:ln w="12700">
            <a:solidFill>
              <a:srgbClr val="26334F"/>
            </a:solidFill>
            <a:prstDash val="solid"/>
          </a:ln>
        </p:spPr>
      </p:sp>
      <p:sp>
        <p:nvSpPr>
          <p:cNvPr id="17" name="text s24-17"/>
          <p:cNvSpPr txBox="1"/>
          <p:nvPr/>
        </p:nvSpPr>
        <p:spPr>
          <a:xfrm>
            <a:off x="10030968" y="3867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693A"/>
                </a:solidFill>
              </a:rPr>
              <a:t>8.5x</a:t>
            </a:r>
            <a:endParaRPr lang="en-US" sz="2300" dirty="0"/>
          </a:p>
        </p:txBody>
      </p:sp>
      <p:sp>
        <p:nvSpPr>
          <p:cNvPr id="18" name="text s24-18"/>
          <p:cNvSpPr txBox="1"/>
          <p:nvPr/>
        </p:nvSpPr>
        <p:spPr>
          <a:xfrm>
            <a:off x="10030968" y="43891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Gap between US and India median compensation</a:t>
            </a:r>
            <a:endParaRPr lang="en-US" sz="1200" dirty="0"/>
          </a:p>
        </p:txBody>
      </p:sp>
      <p:sp>
        <p:nvSpPr>
          <p:cNvPr id="19" name="text s24-1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AB3"/>
                </a:solidFill>
              </a:rPr>
              <a:t>Source: Stack Overflow Developer Survey, ConvertedCompYearly (respondents who reported compensation); exploratory analysis in Python (pandas, Seaborn)</a:t>
            </a:r>
            <a:endParaRPr lang="en-US" sz="1100" dirty="0"/>
          </a:p>
        </p:txBody>
      </p:sp>
      <p:sp>
        <p:nvSpPr>
          <p:cNvPr id="25" name="Slide Number Placeholder 0 s24-25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733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/>
          <p:nvPr>
            <p:ph idx="100" type="title" hasCustomPrompt="1"/>
          </p:nvPr>
        </p:nvSpPr>
        <p:spPr>
          <a:xfrm>
            <a:off x="548640" y="16002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E8693A"/>
                </a:solidFill>
              </a:rPr>
              <a:t>for reading</a:t>
            </a:r>
            <a:endParaRPr lang="en-US" sz="4600" dirty="0"/>
          </a:p>
        </p:txBody>
      </p:sp>
      <p:sp>
        <p:nvSpPr>
          <p:cNvPr id="3" name="text s25-3"/>
          <p:cNvSpPr txBox="1"/>
          <p:nvPr/>
        </p:nvSpPr>
        <p:spPr>
          <a:xfrm>
            <a:off x="5486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Vincenzo Ambrosino</a:t>
            </a:r>
            <a:endParaRPr lang="en-US" sz="2200" dirty="0"/>
          </a:p>
        </p:txBody>
      </p:sp>
      <p:sp>
        <p:nvSpPr>
          <p:cNvPr id="4" name="text s25-4"/>
          <p:cNvSpPr txBox="1"/>
          <p:nvPr/>
        </p:nvSpPr>
        <p:spPr>
          <a:xfrm>
            <a:off x="54864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Notebooks, code and data sources are on GitHub:</a:t>
            </a:r>
            <a:endParaRPr lang="en-US" sz="1600" dirty="0"/>
          </a:p>
        </p:txBody>
      </p:sp>
      <p:sp>
        <p:nvSpPr>
          <p:cNvPr id="5" name="repo pill s25-5"/>
          <p:cNvSpPr/>
          <p:nvPr/>
        </p:nvSpPr>
        <p:spPr>
          <a:xfrm>
            <a:off x="548640" y="5029200"/>
            <a:ext cx="5760720" cy="502920"/>
          </a:xfrm>
          <a:prstGeom prst="roundRect">
            <a:avLst>
              <a:gd name="adj" fmla="val 49091"/>
            </a:avLst>
          </a:prstGeom>
          <a:solidFill>
            <a:srgbClr val="1B2C4D">
              <a:alpha val="90000"/>
            </a:srgbClr>
          </a:solidFill>
          <a:ln w="12700">
            <a:solidFill>
              <a:srgbClr val="3987E5"/>
            </a:solidFill>
            <a:prstDash val="solid"/>
          </a:ln>
        </p:spPr>
      </p:sp>
      <p:pic>
        <p:nvPicPr>
          <p:cNvPr id="6" name="github icon s25-6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20640"/>
            <a:ext cx="320040" cy="320040"/>
          </a:xfrm>
          <a:prstGeom prst="rect">
            <a:avLst/>
          </a:prstGeom>
        </p:spPr>
      </p:pic>
      <p:sp>
        <p:nvSpPr>
          <p:cNvPr id="7" name="repo link s25-7">
            <a:hlinkClick r:id="rId2" tooltip=""/>
          </p:cNvPr>
          <p:cNvSpPr txBox="1"/>
          <p:nvPr/>
        </p:nvSpPr>
        <p:spPr>
          <a:xfrm>
            <a:off x="1188720" y="5029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F1F5F9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github.com/v-ambrosino/ibm-data-analyst-capstone</a:t>
            </a:r>
            <a:endParaRPr lang="en-US" sz="1600" dirty="0"/>
          </a:p>
        </p:txBody>
      </p:sp>
      <p:pic>
        <p:nvPicPr>
          <p:cNvPr id="8" name="hero art s25-8" descr="Stylized bar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389120" cy="3591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Developer Trends Dark">
  <a:themeElements>
    <a:clrScheme name="Developer Trends Dark">
      <a:dk1>
        <a:srgbClr val="0B1220"/>
      </a:dk1>
      <a:lt1>
        <a:srgbClr val="F1F5F9"/>
      </a:lt1>
      <a:dk2>
        <a:srgbClr val="16213A"/>
      </a:dk2>
      <a:lt2>
        <a:srgbClr val="CBD5E1"/>
      </a:lt2>
      <a:accent1>
        <a:srgbClr val="3987E5"/>
      </a:accent1>
      <a:accent2>
        <a:srgbClr val="E8693A"/>
      </a:accent2>
      <a:accent3>
        <a:srgbClr val="1BAF7A"/>
      </a:accent3>
      <a:accent4>
        <a:srgbClr val="EDA100"/>
      </a:accent4>
      <a:accent5>
        <a:srgbClr val="9085E9"/>
      </a:accent5>
      <a:accent6>
        <a:srgbClr val="E66767"/>
      </a:accent6>
      <a:hlink>
        <a:srgbClr val="6FA8F0"/>
      </a:hlink>
      <a:folHlink>
        <a:srgbClr val="9085E9"/>
      </a:folHlink>
    </a:clrScheme>
    <a:fontScheme name="Developer Trends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Technology Trends: Current Usage and Future Demand</dc:title>
  <dc:subject>IBM Data Analyst Professional Certificate - Capstone</dc:subject>
  <dc:creator>Vincenzo Ambrosino</dc:creator>
  <cp:lastModifiedBy>Vincenzo Ambrosino</cp:lastModifiedBy>
  <cp:revision>1</cp:revision>
  <dcterms:created xsi:type="dcterms:W3CDTF">2026-10-07T15:11:05Z</dcterms:created>
  <dcterms:modified xsi:type="dcterms:W3CDTF">2026-10-07T15:11:05Z</dcterms:modified>
</cp:coreProperties>
</file>