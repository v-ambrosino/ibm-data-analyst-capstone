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7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8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ec13d5c-e301-224c-987e-d17d0cea7687}">
          <p14:sldIdLst>
            <p14:sldId id="256"/>
            <p14:sldId id="257"/>
            <p14:sldId id="258"/>
            <p14:sldId id="259"/>
            <p14:sldId id="260"/>
          </p14:sldIdLst>
        </p14:section>
        <p14:section name="Results" id="{939df667-0d31-bdb6-2186-19043428119d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Dashboard" id="{fd657e7f-b9b3-5d32-75f7-803d144725ce}">
          <p14:sldIdLst>
            <p14:sldId id="268"/>
            <p14:sldId id="269"/>
            <p14:sldId id="270"/>
            <p14:sldId id="271"/>
          </p14:sldIdLst>
        </p14:section>
        <p14:section name="Discussion" id="{ccddf8b2-5bd9-0b04-d208-38e3eb09e488}">
          <p14:sldIdLst>
            <p14:sldId id="272"/>
            <p14:sldId id="273"/>
          </p14:sldIdLst>
        </p14:section>
        <p14:section name="Conclusion" id="{600a4a0f-b85e-4d12-1206-18a7a68cf274}">
          <p14:sldIdLst>
            <p14:sldId id="274"/>
          </p14:sldIdLst>
        </p14:section>
        <p14:section name="Appendix" id="{ef9015f8-9ea9-932c-075f-0821a991ec44}">
          <p14:sldIdLst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Number of job postings by city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Washington DC</c:v>
                  </c:pt>
                  <c:pt idx="1">
                    <c:v>Detroit</c:v>
                  </c:pt>
                  <c:pt idx="2">
                    <c:v>Seattle</c:v>
                  </c:pt>
                  <c:pt idx="3">
                    <c:v>New York</c:v>
                  </c:pt>
                  <c:pt idx="4">
                    <c:v>Los Angeles</c:v>
                  </c:pt>
                  <c:pt idx="5">
                    <c:v>San Francisco</c:v>
                  </c:pt>
                  <c:pt idx="6">
                    <c:v>Austin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5316</c:v>
                </c:pt>
                <c:pt idx="1">
                  <c:v>3945</c:v>
                </c:pt>
                <c:pt idx="2">
                  <c:v>3375</c:v>
                </c:pt>
                <c:pt idx="3">
                  <c:v>3226</c:v>
                </c:pt>
                <c:pt idx="4">
                  <c:v>640</c:v>
                </c:pt>
                <c:pt idx="5">
                  <c:v>435</c:v>
                </c:pt>
                <c:pt idx="6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Average annual salary by programming language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Swift</c:v>
                  </c:pt>
                  <c:pt idx="1">
                    <c:v>Python</c:v>
                  </c:pt>
                  <c:pt idx="2">
                    <c:v>C++</c:v>
                  </c:pt>
                  <c:pt idx="3">
                    <c:v>JavaScript</c:v>
                  </c:pt>
                  <c:pt idx="4">
                    <c:v>Java</c:v>
                  </c:pt>
                  <c:pt idx="5">
                    <c:v>Go</c:v>
                  </c:pt>
                  <c:pt idx="6">
                    <c:v>R</c:v>
                  </c:pt>
                  <c:pt idx="7">
                    <c:v>C#</c:v>
                  </c:pt>
                  <c:pt idx="8">
                    <c:v>SQL</c:v>
                  </c:pt>
                  <c:pt idx="9">
                    <c:v>PHP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130801</c:v>
                </c:pt>
                <c:pt idx="1">
                  <c:v>114383</c:v>
                </c:pt>
                <c:pt idx="2">
                  <c:v>113865</c:v>
                </c:pt>
                <c:pt idx="3">
                  <c:v>110981</c:v>
                </c:pt>
                <c:pt idx="4">
                  <c:v>101013</c:v>
                </c:pt>
                <c:pt idx="5">
                  <c:v>94082</c:v>
                </c:pt>
                <c:pt idx="6">
                  <c:v>92037</c:v>
                </c:pt>
                <c:pt idx="7">
                  <c:v>88726</c:v>
                </c:pt>
                <c:pt idx="8">
                  <c:v>84793</c:v>
                </c:pt>
                <c:pt idx="9">
                  <c:v>84727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5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Current year: languages used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JavaScript</c:v>
                  </c:pt>
                  <c:pt idx="1">
                    <c:v>SQL</c:v>
                  </c:pt>
                  <c:pt idx="2">
                    <c:v>HTML/CSS</c:v>
                  </c:pt>
                  <c:pt idx="3">
                    <c:v>TypeScript</c:v>
                  </c:pt>
                  <c:pt idx="4">
                    <c:v>Python</c:v>
                  </c:pt>
                  <c:pt idx="5">
                    <c:v>Bash/Shell</c:v>
                  </c:pt>
                  <c:pt idx="6">
                    <c:v>C#</c:v>
                  </c:pt>
                  <c:pt idx="7">
                    <c:v>Java</c:v>
                  </c:pt>
                  <c:pt idx="8">
                    <c:v>PHP</c:v>
                  </c:pt>
                  <c:pt idx="9">
                    <c:v>PowerShell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14943</c:v>
                </c:pt>
                <c:pt idx="1">
                  <c:v>12602</c:v>
                </c:pt>
                <c:pt idx="2">
                  <c:v>12410</c:v>
                </c:pt>
                <c:pt idx="3">
                  <c:v>10709</c:v>
                </c:pt>
                <c:pt idx="4">
                  <c:v>9590</c:v>
                </c:pt>
                <c:pt idx="5">
                  <c:v>7244</c:v>
                </c:pt>
                <c:pt idx="6">
                  <c:v>6340</c:v>
                </c:pt>
                <c:pt idx="7">
                  <c:v>5982</c:v>
                </c:pt>
                <c:pt idx="8">
                  <c:v>4644</c:v>
                </c:pt>
                <c:pt idx="9">
                  <c:v>3438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Next year: languages desired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JavaScript</c:v>
                  </c:pt>
                  <c:pt idx="1">
                    <c:v>SQL</c:v>
                  </c:pt>
                  <c:pt idx="2">
                    <c:v>TypeScript</c:v>
                  </c:pt>
                  <c:pt idx="3">
                    <c:v>HTML/CSS</c:v>
                  </c:pt>
                  <c:pt idx="4">
                    <c:v>Python</c:v>
                  </c:pt>
                  <c:pt idx="5">
                    <c:v>Go</c:v>
                  </c:pt>
                  <c:pt idx="6">
                    <c:v>Rust</c:v>
                  </c:pt>
                  <c:pt idx="7">
                    <c:v>C#</c:v>
                  </c:pt>
                  <c:pt idx="8">
                    <c:v>Bash/Shell</c:v>
                  </c:pt>
                  <c:pt idx="9">
                    <c:v>Java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11541</c:v>
                </c:pt>
                <c:pt idx="1">
                  <c:v>10944</c:v>
                </c:pt>
                <c:pt idx="2">
                  <c:v>10437</c:v>
                </c:pt>
                <c:pt idx="3">
                  <c:v>10016</c:v>
                </c:pt>
                <c:pt idx="4">
                  <c:v>8919</c:v>
                </c:pt>
                <c:pt idx="5">
                  <c:v>5661</c:v>
                </c:pt>
                <c:pt idx="6">
                  <c:v>5597</c:v>
                </c:pt>
                <c:pt idx="7">
                  <c:v>5590</c:v>
                </c:pt>
                <c:pt idx="8">
                  <c:v>5582</c:v>
                </c:pt>
                <c:pt idx="9">
                  <c:v>4048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Current year: databases used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PostgreSQL</c:v>
                  </c:pt>
                  <c:pt idx="1">
                    <c:v>MySQL</c:v>
                  </c:pt>
                  <c:pt idx="2">
                    <c:v>SQLite</c:v>
                  </c:pt>
                  <c:pt idx="3">
                    <c:v>MongoDB</c:v>
                  </c:pt>
                  <c:pt idx="4">
                    <c:v>MS SQL Server</c:v>
                  </c:pt>
                  <c:pt idx="5">
                    <c:v>Redis</c:v>
                  </c:pt>
                  <c:pt idx="6">
                    <c:v>MariaDB</c:v>
                  </c:pt>
                  <c:pt idx="7">
                    <c:v>Elasticsearch</c:v>
                  </c:pt>
                  <c:pt idx="8">
                    <c:v>DynamoDB</c:v>
                  </c:pt>
                  <c:pt idx="9">
                    <c:v>Oracle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11514</c:v>
                </c:pt>
                <c:pt idx="1">
                  <c:v>8556</c:v>
                </c:pt>
                <c:pt idx="2">
                  <c:v>7021</c:v>
                </c:pt>
                <c:pt idx="3">
                  <c:v>5930</c:v>
                </c:pt>
                <c:pt idx="4">
                  <c:v>5870</c:v>
                </c:pt>
                <c:pt idx="5">
                  <c:v>5814</c:v>
                </c:pt>
                <c:pt idx="6">
                  <c:v>3994</c:v>
                </c:pt>
                <c:pt idx="7">
                  <c:v>3491</c:v>
                </c:pt>
                <c:pt idx="8">
                  <c:v>2268</c:v>
                </c:pt>
                <c:pt idx="9">
                  <c:v>1907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3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Next year: databases desired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PostgreSQL</c:v>
                  </c:pt>
                  <c:pt idx="1">
                    <c:v>Redis</c:v>
                  </c:pt>
                  <c:pt idx="2">
                    <c:v>SQLite</c:v>
                  </c:pt>
                  <c:pt idx="3">
                    <c:v>MySQL</c:v>
                  </c:pt>
                  <c:pt idx="4">
                    <c:v>MongoDB</c:v>
                  </c:pt>
                  <c:pt idx="5">
                    <c:v>MS SQL Server</c:v>
                  </c:pt>
                  <c:pt idx="6">
                    <c:v>Elasticsearch</c:v>
                  </c:pt>
                  <c:pt idx="7">
                    <c:v>MariaDB</c:v>
                  </c:pt>
                  <c:pt idx="8">
                    <c:v>DynamoDB</c:v>
                  </c:pt>
                  <c:pt idx="9">
                    <c:v>Supabase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12193</c:v>
                </c:pt>
                <c:pt idx="1">
                  <c:v>6384</c:v>
                </c:pt>
                <c:pt idx="2">
                  <c:v>6295</c:v>
                </c:pt>
                <c:pt idx="3">
                  <c:v>6204</c:v>
                </c:pt>
                <c:pt idx="4">
                  <c:v>5618</c:v>
                </c:pt>
                <c:pt idx="5">
                  <c:v>4345</c:v>
                </c:pt>
                <c:pt idx="6">
                  <c:v>3665</c:v>
                </c:pt>
                <c:pt idx="7">
                  <c:v>3078</c:v>
                </c:pt>
                <c:pt idx="8">
                  <c:v>2154</c:v>
                </c:pt>
                <c:pt idx="9">
                  <c:v>1623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3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Top 10 countries by number of survey respondents (161 countries in total)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States</c:v>
                  </c:pt>
                  <c:pt idx="1">
                    <c:v>Germany</c:v>
                  </c:pt>
                  <c:pt idx="2">
                    <c:v>India</c:v>
                  </c:pt>
                  <c:pt idx="3">
                    <c:v>United Kingdom</c:v>
                  </c:pt>
                  <c:pt idx="4">
                    <c:v>Ukraine</c:v>
                  </c:pt>
                  <c:pt idx="5">
                    <c:v>Canada</c:v>
                  </c:pt>
                  <c:pt idx="6">
                    <c:v>France</c:v>
                  </c:pt>
                  <c:pt idx="7">
                    <c:v>Brazil</c:v>
                  </c:pt>
                  <c:pt idx="8">
                    <c:v>Poland</c:v>
                  </c:pt>
                  <c:pt idx="9">
                    <c:v>Netherlands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3441</c:v>
                </c:pt>
                <c:pt idx="1">
                  <c:v>1339</c:v>
                </c:pt>
                <c:pt idx="2">
                  <c:v>1316</c:v>
                </c:pt>
                <c:pt idx="3">
                  <c:v>1053</c:v>
                </c:pt>
                <c:pt idx="4">
                  <c:v>931</c:v>
                </c:pt>
                <c:pt idx="5">
                  <c:v>661</c:v>
                </c:pt>
                <c:pt idx="6">
                  <c:v>598</c:v>
                </c:pt>
                <c:pt idx="7">
                  <c:v>587</c:v>
                </c:pt>
                <c:pt idx="8">
                  <c:v>494</c:v>
                </c:pt>
                <c:pt idx="9">
                  <c:v>480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yearly compensation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Under 18</c:v>
                  </c:pt>
                  <c:pt idx="1">
                    <c:v>18-24</c:v>
                  </c:pt>
                  <c:pt idx="2">
                    <c:v>25-34</c:v>
                  </c:pt>
                  <c:pt idx="3">
                    <c:v>35-44</c:v>
                  </c:pt>
                  <c:pt idx="4">
                    <c:v>45-54</c:v>
                  </c:pt>
                  <c:pt idx="5">
                    <c:v>55-64</c:v>
                  </c:pt>
                  <c:pt idx="6">
                    <c:v>65+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7626.5</c:v>
                </c:pt>
                <c:pt idx="1">
                  <c:v>25000</c:v>
                </c:pt>
                <c:pt idx="2">
                  <c:v>59825</c:v>
                </c:pt>
                <c:pt idx="3">
                  <c:v>84796</c:v>
                </c:pt>
                <c:pt idx="4">
                  <c:v>99099</c:v>
                </c:pt>
                <c:pt idx="5">
                  <c:v>109691</c:v>
                </c:pt>
                <c:pt idx="6">
                  <c:v>106000</c:v>
                </c:pt>
              </c:numCache>
            </c:numRef>
          </c:val>
          <c:smooth val="0"/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+mn-lt"/>
              </a:rPr>
              <a:t>Median yearly compensation (USD) in the top 10 countries by respondents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States</c:v>
                  </c:pt>
                  <c:pt idx="1">
                    <c:v>Canada</c:v>
                  </c:pt>
                  <c:pt idx="2">
                    <c:v>United Kingdom</c:v>
                  </c:pt>
                  <c:pt idx="3">
                    <c:v>Germany</c:v>
                  </c:pt>
                  <c:pt idx="4">
                    <c:v>Netherlands</c:v>
                  </c:pt>
                  <c:pt idx="5">
                    <c:v>Poland</c:v>
                  </c:pt>
                  <c:pt idx="6">
                    <c:v>France</c:v>
                  </c:pt>
                  <c:pt idx="7">
                    <c:v>Ukraine</c:v>
                  </c:pt>
                  <c:pt idx="8">
                    <c:v>Brazil</c:v>
                  </c:pt>
                  <c:pt idx="9">
                    <c:v>India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143000</c:v>
                </c:pt>
                <c:pt idx="1">
                  <c:v>87231</c:v>
                </c:pt>
                <c:pt idx="2">
                  <c:v>84076</c:v>
                </c:pt>
                <c:pt idx="3">
                  <c:v>73036</c:v>
                </c:pt>
                <c:pt idx="4">
                  <c:v>69814</c:v>
                </c:pt>
                <c:pt idx="5">
                  <c:v>55536</c:v>
                </c:pt>
                <c:pt idx="6">
                  <c:v>53703</c:v>
                </c:pt>
                <c:pt idx="7">
                  <c:v>26904</c:v>
                </c:pt>
                <c:pt idx="8">
                  <c:v>23945</c:v>
                </c:pt>
                <c:pt idx="9">
                  <c:v>16749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85953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8595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60604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Developer Technology Trends  ·  Vincenzo Ambrosino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Developer Technology Trends: Current Usage and Future Demand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862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Vincenzo Ambrosino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9FB3D1"/>
                </a:solidFill>
              </a:rPr>
              <a:t>October 6, 2026  ·  IBM Data Analyst Professional Certificate, Capstone</a:t>
            </a:r>
            <a:endParaRPr lang="en-US" sz="1800" dirty="0"/>
          </a:p>
        </p:txBody>
      </p:sp>
      <p:sp>
        <p:nvSpPr>
          <p:cNvPr id="4" name="Motif bar current 0"/>
          <p:cNvSpPr/>
          <p:nvPr/>
        </p:nvSpPr>
        <p:spPr>
          <a:xfrm>
            <a:off x="9509760" y="2157984"/>
            <a:ext cx="219456" cy="2779776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Motif bar next 0"/>
          <p:cNvSpPr/>
          <p:nvPr/>
        </p:nvSpPr>
        <p:spPr>
          <a:xfrm>
            <a:off x="9765792" y="2260397"/>
            <a:ext cx="219456" cy="2677363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Motif bar current 1"/>
          <p:cNvSpPr/>
          <p:nvPr/>
        </p:nvSpPr>
        <p:spPr>
          <a:xfrm>
            <a:off x="10076688" y="2596896"/>
            <a:ext cx="219456" cy="2340864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Motif bar next 1"/>
          <p:cNvSpPr/>
          <p:nvPr/>
        </p:nvSpPr>
        <p:spPr>
          <a:xfrm>
            <a:off x="10332720" y="2655418"/>
            <a:ext cx="219456" cy="2282342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8" name="Motif bar current 2"/>
          <p:cNvSpPr/>
          <p:nvPr/>
        </p:nvSpPr>
        <p:spPr>
          <a:xfrm>
            <a:off x="10643616" y="3123590"/>
            <a:ext cx="219456" cy="1814170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Motif bar next 2"/>
          <p:cNvSpPr/>
          <p:nvPr/>
        </p:nvSpPr>
        <p:spPr>
          <a:xfrm>
            <a:off x="10899648" y="3129443"/>
            <a:ext cx="219456" cy="1808317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Motif bar current 3"/>
          <p:cNvSpPr/>
          <p:nvPr/>
        </p:nvSpPr>
        <p:spPr>
          <a:xfrm>
            <a:off x="11210544" y="3621024"/>
            <a:ext cx="219456" cy="1316736"/>
          </a:xfrm>
          <a:prstGeom prst="roundRect">
            <a:avLst>
              <a:gd name="adj" fmla="val 25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Motif bar next 3"/>
          <p:cNvSpPr/>
          <p:nvPr/>
        </p:nvSpPr>
        <p:spPr>
          <a:xfrm>
            <a:off x="11466576" y="3577133"/>
            <a:ext cx="219456" cy="1360627"/>
          </a:xfrm>
          <a:prstGeom prst="roundRect">
            <a:avLst>
              <a:gd name="adj" fmla="val 25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OUTLINE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deck covers</a:t>
            </a:r>
            <a:endParaRPr lang="en-US" sz="3000" dirty="0"/>
          </a:p>
        </p:txBody>
      </p:sp>
      <p:sp>
        <p:nvSpPr>
          <p:cNvPr id="4" name="Outline card 1"/>
          <p:cNvSpPr/>
          <p:nvPr/>
        </p:nvSpPr>
        <p:spPr>
          <a:xfrm>
            <a:off x="548640" y="173736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7373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Executive Summary</a:t>
            </a:r>
            <a:endParaRPr lang="en-US" sz="1800" dirty="0"/>
          </a:p>
        </p:txBody>
      </p:sp>
      <p:sp>
        <p:nvSpPr>
          <p:cNvPr id="7" name="Outline card 2"/>
          <p:cNvSpPr/>
          <p:nvPr/>
        </p:nvSpPr>
        <p:spPr>
          <a:xfrm>
            <a:off x="548640" y="278892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7889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Introduction</a:t>
            </a:r>
            <a:endParaRPr lang="en-US" sz="1800" dirty="0"/>
          </a:p>
        </p:txBody>
      </p:sp>
      <p:sp>
        <p:nvSpPr>
          <p:cNvPr id="10" name="Outline card 3"/>
          <p:cNvSpPr/>
          <p:nvPr/>
        </p:nvSpPr>
        <p:spPr>
          <a:xfrm>
            <a:off x="548640" y="384048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40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840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Methodology</a:t>
            </a:r>
            <a:endParaRPr lang="en-US" sz="1800" dirty="0"/>
          </a:p>
        </p:txBody>
      </p:sp>
      <p:sp>
        <p:nvSpPr>
          <p:cNvPr id="13" name="Outline card 4"/>
          <p:cNvSpPr/>
          <p:nvPr/>
        </p:nvSpPr>
        <p:spPr>
          <a:xfrm>
            <a:off x="548640" y="489204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89204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8920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Results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Visualization – Charts · Dashboard</a:t>
            </a:r>
            <a:endParaRPr lang="en-US" sz="1800" dirty="0"/>
          </a:p>
        </p:txBody>
      </p:sp>
      <p:sp>
        <p:nvSpPr>
          <p:cNvPr id="16" name="Outline card 5"/>
          <p:cNvSpPr/>
          <p:nvPr/>
        </p:nvSpPr>
        <p:spPr>
          <a:xfrm>
            <a:off x="6172200" y="173736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7373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17373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Discussion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Findings &amp; Implications</a:t>
            </a:r>
            <a:endParaRPr lang="en-US" sz="1800" dirty="0"/>
          </a:p>
        </p:txBody>
      </p:sp>
      <p:sp>
        <p:nvSpPr>
          <p:cNvPr id="19" name="Outline card 6"/>
          <p:cNvSpPr/>
          <p:nvPr/>
        </p:nvSpPr>
        <p:spPr>
          <a:xfrm>
            <a:off x="6172200" y="278892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788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06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223760" y="278892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Conclusion</a:t>
            </a:r>
            <a:endParaRPr lang="en-US" sz="1800" dirty="0"/>
          </a:p>
        </p:txBody>
      </p:sp>
      <p:sp>
        <p:nvSpPr>
          <p:cNvPr id="22" name="Outline card 7"/>
          <p:cNvSpPr/>
          <p:nvPr/>
        </p:nvSpPr>
        <p:spPr>
          <a:xfrm>
            <a:off x="6172200" y="3840480"/>
            <a:ext cx="5394960" cy="868680"/>
          </a:xfrm>
          <a:prstGeom prst="roundRect">
            <a:avLst>
              <a:gd name="adj" fmla="val 12632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3840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07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3840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Appendix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EXECUTIVE SUMMARY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stable core stack, with clear risers for next year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Key findings from job postings, salary data and 18,845 developer survey responses</a:t>
            </a:r>
            <a:endParaRPr lang="en-US" sz="1600" dirty="0"/>
          </a:p>
        </p:txBody>
      </p:sp>
      <p:sp>
        <p:nvSpPr>
          <p:cNvPr id="5" name="Exec 1 circle"/>
          <p:cNvSpPr/>
          <p:nvPr/>
        </p:nvSpPr>
        <p:spPr>
          <a:xfrm>
            <a:off x="548640" y="1920240"/>
            <a:ext cx="566928" cy="566928"/>
          </a:xfrm>
          <a:prstGeom prst="ellipse">
            <a:avLst/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pic>
        <p:nvPicPr>
          <p:cNvPr id="6" name="Exec 1 icon" descr="Exec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206764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84708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Washington DC (5,316), Detroit (3,945) and Seattle (3,375) lead job postings; Swift ($130.8K) and Python ($114.4K) top the salary ranking</a:t>
            </a:r>
            <a:endParaRPr lang="en-US" sz="1500" dirty="0"/>
          </a:p>
        </p:txBody>
      </p:sp>
      <p:sp>
        <p:nvSpPr>
          <p:cNvPr id="8" name="Exec 2 circle"/>
          <p:cNvSpPr/>
          <p:nvPr/>
        </p:nvSpPr>
        <p:spPr>
          <a:xfrm>
            <a:off x="548640" y="2770632"/>
            <a:ext cx="566928" cy="566928"/>
          </a:xfrm>
          <a:prstGeom prst="ellipse">
            <a:avLst/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pic>
        <p:nvPicPr>
          <p:cNvPr id="9" name="Exec 2 icon" descr="Exec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291803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697480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JavaScript, SQL and TypeScript are both the most used and the most desired languages. Rust and Go enter the desired top 10, while PHP and PowerShell drop out</a:t>
            </a:r>
            <a:endParaRPr lang="en-US" sz="1500" dirty="0"/>
          </a:p>
        </p:txBody>
      </p:sp>
      <p:sp>
        <p:nvSpPr>
          <p:cNvPr id="11" name="Exec 3 circle"/>
          <p:cNvSpPr/>
          <p:nvPr/>
        </p:nvSpPr>
        <p:spPr>
          <a:xfrm>
            <a:off x="548640" y="3621024"/>
            <a:ext cx="566928" cy="566928"/>
          </a:xfrm>
          <a:prstGeom prst="ellipse">
            <a:avLst/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pic>
        <p:nvPicPr>
          <p:cNvPr id="12" name="Exec 3 icon" descr="Exec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3768425"/>
            <a:ext cx="272125" cy="27212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547872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PostgreSQL is the leading database today (11,514) and its lead grows next year (12,193); Redis rises to 2nd place</a:t>
            </a:r>
            <a:endParaRPr lang="en-US" sz="1500" dirty="0"/>
          </a:p>
        </p:txBody>
      </p:sp>
      <p:sp>
        <p:nvSpPr>
          <p:cNvPr id="14" name="Exec 4 circle"/>
          <p:cNvSpPr/>
          <p:nvPr/>
        </p:nvSpPr>
        <p:spPr>
          <a:xfrm>
            <a:off x="548640" y="4471416"/>
            <a:ext cx="566928" cy="566928"/>
          </a:xfrm>
          <a:prstGeom prst="ellipse">
            <a:avLst/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pic>
        <p:nvPicPr>
          <p:cNvPr id="15" name="Exec 4 icon" descr="Exec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4618817"/>
            <a:ext cx="272125" cy="27212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325880" y="4398264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AWS, Microsoft Azure and Google Cloud dominate cloud platforms; React and Node.js dominate web frameworks</a:t>
            </a:r>
            <a:endParaRPr lang="en-US" sz="1500" dirty="0"/>
          </a:p>
        </p:txBody>
      </p:sp>
      <p:sp>
        <p:nvSpPr>
          <p:cNvPr id="17" name="Exec 5 circle"/>
          <p:cNvSpPr/>
          <p:nvPr/>
        </p:nvSpPr>
        <p:spPr>
          <a:xfrm>
            <a:off x="548640" y="5321808"/>
            <a:ext cx="566928" cy="566928"/>
          </a:xfrm>
          <a:prstGeom prst="ellipse">
            <a:avLst/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pic>
        <p:nvPicPr>
          <p:cNvPr id="18" name="Exec 5 icon" descr="Exec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041" y="5469209"/>
            <a:ext cx="272125" cy="27212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5248656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Most respondents are 25-44 years old (68.6%) and hold a bachelor's or master's degree (72.3%)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INTRODUCTION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Which skills are in demand today, and which come next?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Purpose of the report, target audience &amp; value of the analysis</a:t>
            </a:r>
            <a:endParaRPr lang="en-US" sz="1600" dirty="0"/>
          </a:p>
        </p:txBody>
      </p:sp>
      <p:sp>
        <p:nvSpPr>
          <p:cNvPr id="5" name="Intro card Purpose"/>
          <p:cNvSpPr/>
          <p:nvPr/>
        </p:nvSpPr>
        <p:spPr>
          <a:xfrm>
            <a:off x="548640" y="196596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Purpose circle"/>
          <p:cNvSpPr/>
          <p:nvPr/>
        </p:nvSpPr>
        <p:spPr>
          <a:xfrm>
            <a:off x="822960" y="2194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Purpose icon" descr="Purp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341961"/>
            <a:ext cx="272125" cy="272125"/>
          </a:xfrm>
          <a:prstGeom prst="rect">
            <a:avLst/>
          </a:prstGeom>
        </p:spPr>
      </p:pic>
      <p:sp>
        <p:nvSpPr>
          <p:cNvPr id="8" name="Heading Purpose"/>
          <p:cNvSpPr txBox="1"/>
          <p:nvPr/>
        </p:nvSpPr>
        <p:spPr>
          <a:xfrm>
            <a:off x="82296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Purpose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Identify which technology skills are in demand today and which ones developers want to adopt next</a:t>
            </a:r>
            <a:endParaRPr lang="en-US" sz="1500" dirty="0"/>
          </a:p>
        </p:txBody>
      </p:sp>
      <p:sp>
        <p:nvSpPr>
          <p:cNvPr id="10" name="Intro card Target audience"/>
          <p:cNvSpPr/>
          <p:nvPr/>
        </p:nvSpPr>
        <p:spPr>
          <a:xfrm>
            <a:off x="4297680" y="196596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Target audience circle"/>
          <p:cNvSpPr/>
          <p:nvPr/>
        </p:nvSpPr>
        <p:spPr>
          <a:xfrm>
            <a:off x="4572000" y="2194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arget audience icon" descr="Target aud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401" y="2341961"/>
            <a:ext cx="272125" cy="272125"/>
          </a:xfrm>
          <a:prstGeom prst="rect">
            <a:avLst/>
          </a:prstGeom>
        </p:spPr>
      </p:pic>
      <p:sp>
        <p:nvSpPr>
          <p:cNvPr id="13" name="Heading Target audience"/>
          <p:cNvSpPr txBox="1"/>
          <p:nvPr/>
        </p:nvSpPr>
        <p:spPr>
          <a:xfrm>
            <a:off x="457200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Target audience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Hiring managers, HR and training teams, and job seekers planning their skills</a:t>
            </a:r>
            <a:endParaRPr lang="en-US" sz="1500" dirty="0"/>
          </a:p>
        </p:txBody>
      </p:sp>
      <p:sp>
        <p:nvSpPr>
          <p:cNvPr id="15" name="Intro card Value"/>
          <p:cNvSpPr/>
          <p:nvPr/>
        </p:nvSpPr>
        <p:spPr>
          <a:xfrm>
            <a:off x="8046720" y="196596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Value circle"/>
          <p:cNvSpPr/>
          <p:nvPr/>
        </p:nvSpPr>
        <p:spPr>
          <a:xfrm>
            <a:off x="8321040" y="2194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Value icon" descr="Val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41" y="2341961"/>
            <a:ext cx="272125" cy="272125"/>
          </a:xfrm>
          <a:prstGeom prst="rect">
            <a:avLst/>
          </a:prstGeom>
        </p:spPr>
      </p:pic>
      <p:sp>
        <p:nvSpPr>
          <p:cNvPr id="18" name="Heading Value"/>
          <p:cNvSpPr txBox="1"/>
          <p:nvPr/>
        </p:nvSpPr>
        <p:spPr>
          <a:xfrm>
            <a:off x="8321040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Value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291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</a:rPr>
              <a:t>Data-driven guidance on which languages, databases, platforms and frameworks to learn or invest in</a:t>
            </a:r>
            <a:endParaRPr lang="en-US" sz="1500" dirty="0"/>
          </a:p>
        </p:txBody>
      </p:sp>
      <p:sp>
        <p:nvSpPr>
          <p:cNvPr id="20" name="Heading Scope of the analysis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Scope of the analysis</a:t>
            </a:r>
            <a:endParaRPr lang="en-US" sz="1800" dirty="0"/>
          </a:p>
        </p:txBody>
      </p:sp>
      <p:sp>
        <p:nvSpPr>
          <p:cNvPr id="21" name="Bullets"/>
          <p:cNvSpPr txBox="1"/>
          <p:nvPr/>
        </p:nvSpPr>
        <p:spPr>
          <a:xfrm>
            <a:off x="548640" y="49834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Job postings by US city and salaries by programming language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Developer survey: current vs. desired technologies and respondent demographics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METHODOLOGY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three raw sources to one clean, analysis-ready dataset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Data sources, data collection &amp; data wrangling steps</a:t>
            </a:r>
            <a:endParaRPr lang="en-US" sz="1600" dirty="0"/>
          </a:p>
        </p:txBody>
      </p:sp>
      <p:sp>
        <p:nvSpPr>
          <p:cNvPr id="5" name="Sources card"/>
          <p:cNvSpPr/>
          <p:nvPr/>
        </p:nvSpPr>
        <p:spPr>
          <a:xfrm>
            <a:off x="548640" y="1920240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Heading Data sources"/>
          <p:cNvSpPr txBox="1"/>
          <p:nvPr/>
        </p:nvSpPr>
        <p:spPr>
          <a:xfrm>
            <a:off x="8229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Data sources</a:t>
            </a:r>
            <a:endParaRPr lang="en-US" sz="1800" dirty="0"/>
          </a:p>
        </p:txBody>
      </p:sp>
      <p:sp>
        <p:nvSpPr>
          <p:cNvPr id="7" name="Bullets"/>
          <p:cNvSpPr txBox="1"/>
          <p:nvPr/>
        </p:nvSpPr>
        <p:spPr>
          <a:xfrm>
            <a:off x="822960" y="25603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Job postings via a Job API (job-postings.xlsx)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Salaries by language via web scraping (popular-languages.csv)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Stack Overflow Developer Survey</a:t>
            </a:r>
            <a:endParaRPr lang="en-US" sz="1400" dirty="0"/>
          </a:p>
        </p:txBody>
      </p:sp>
      <p:sp>
        <p:nvSpPr>
          <p:cNvPr id="8" name="Wrangling card"/>
          <p:cNvSpPr/>
          <p:nvPr/>
        </p:nvSpPr>
        <p:spPr>
          <a:xfrm>
            <a:off x="4343400" y="1920240"/>
            <a:ext cx="7296912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Heading Data wrangling in Python (pandas)"/>
          <p:cNvSpPr txBox="1"/>
          <p:nvPr/>
        </p:nvSpPr>
        <p:spPr>
          <a:xfrm>
            <a:off x="461772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Data wrangling in Python (pandas)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</a:rPr>
              <a:t>10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</a:rPr>
              <a:t>duplicate rows removed (65,447 to 65,437 responses)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09244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</a:rPr>
              <a:t>Mode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</a:rPr>
              <a:t>imputation of missing categorical values: RemoteWork (10,631 rows, "Hybrid") and EdLevel (4,653 rows, "Bachelor's degree")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474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</a:rPr>
              <a:t>$65,000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</a:rPr>
              <a:t>median imputed for missing ConvertedCompYearly (64%), then normalized with Min-Max and Z-score scaling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3474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</a:rPr>
              <a:t>978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</a:rPr>
              <a:t>compensation outliers detected with the IQR method (above $220,861)</a:t>
            </a:r>
            <a:endParaRPr lang="en-US" sz="2000" dirty="0"/>
          </a:p>
        </p:txBody>
      </p:sp>
      <p:sp>
        <p:nvSpPr>
          <p:cNvPr id="14" name="Step card Exploratory analysis"/>
          <p:cNvSpPr/>
          <p:nvPr/>
        </p:nvSpPr>
        <p:spPr>
          <a:xfrm>
            <a:off x="54864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5" name="Exploratory analysis circle"/>
          <p:cNvSpPr/>
          <p:nvPr/>
        </p:nvSpPr>
        <p:spPr>
          <a:xfrm>
            <a:off x="777240" y="48463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Exploratory analysis icon" descr="Exploratory analys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4977079"/>
            <a:ext cx="241402" cy="24140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63040" y="4773168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Exploratory analysis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Distributions, outliers and correlations (pandas, Matplotlib, Seaborn, SQL on SQLite)</a:t>
            </a:r>
            <a:endParaRPr lang="en-US" sz="1600" dirty="0"/>
          </a:p>
        </p:txBody>
      </p:sp>
      <p:sp>
        <p:nvSpPr>
          <p:cNvPr id="18" name="Step card Dashboard"/>
          <p:cNvSpPr/>
          <p:nvPr/>
        </p:nvSpPr>
        <p:spPr>
          <a:xfrm>
            <a:off x="6172200" y="466344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Dashboard circle"/>
          <p:cNvSpPr/>
          <p:nvPr/>
        </p:nvSpPr>
        <p:spPr>
          <a:xfrm>
            <a:off x="6400800" y="48463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Dashboard icon" descr="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559" y="4977079"/>
            <a:ext cx="241402" cy="2414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086600" y="4773168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Dashboard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Multi-select answers split into a long table (18,845 respondents), null values excluded, built in Google Looker Studio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RESULTS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6060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Where the jobs are, what pays, and what developers use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Job postings, salaries by language, and programming language and database trends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JOB POSTINGS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Washington DC leads job postings, ahead of Detroit and Seattle</a:t>
            </a:r>
            <a:endParaRPr lang="en-US" sz="3000" dirty="0"/>
          </a:p>
        </p:txBody>
      </p:sp>
      <p:graphicFrame>
        <p:nvGraphicFramePr>
          <p:cNvPr id="4" name="Job postings chart" descr="Bar chart of job postings by city"/>
          <p:cNvGraphicFramePr/>
          <p:nvPr/>
        </p:nvGraphicFramePr>
        <p:xfrm>
          <a:off x="548640" y="1600200"/>
          <a:ext cx="7040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keaways card"/>
          <p:cNvSpPr/>
          <p:nvPr/>
        </p:nvSpPr>
        <p:spPr>
          <a:xfrm>
            <a:off x="7909560" y="1783080"/>
            <a:ext cx="3730752" cy="4206240"/>
          </a:xfrm>
          <a:prstGeom prst="roundRect">
            <a:avLst>
              <a:gd name="adj" fmla="val 294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Heading Key takeaways"/>
          <p:cNvSpPr txBox="1"/>
          <p:nvPr/>
        </p:nvSpPr>
        <p:spPr>
          <a:xfrm>
            <a:off x="818388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Key takeaways</a:t>
            </a:r>
            <a:endParaRPr lang="en-US" sz="1800" dirty="0"/>
          </a:p>
        </p:txBody>
      </p:sp>
      <p:sp>
        <p:nvSpPr>
          <p:cNvPr id="7" name="Bullets"/>
          <p:cNvSpPr txBox="1"/>
          <p:nvPr/>
        </p:nvSpPr>
        <p:spPr>
          <a:xfrm>
            <a:off x="8183880" y="246888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Washington DC has the most postings (5,316), ahead of Detroit (3,945) and Seattle (3,375)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New York follows closely (3,226)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Los Angeles, San Francisco and Austin have far fewer postings (434-640)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POPULAR LANGUAGES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Swift is the best-paid language; SQL and PHP pay the least</a:t>
            </a:r>
            <a:endParaRPr lang="en-US" sz="3000" dirty="0"/>
          </a:p>
        </p:txBody>
      </p:sp>
      <p:graphicFrame>
        <p:nvGraphicFramePr>
          <p:cNvPr id="4" name="Salary chart" descr="Bar chart of average annual salary by language"/>
          <p:cNvGraphicFramePr/>
          <p:nvPr/>
        </p:nvGraphicFramePr>
        <p:xfrm>
          <a:off x="548640" y="1600200"/>
          <a:ext cx="70408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keaways card"/>
          <p:cNvSpPr/>
          <p:nvPr/>
        </p:nvSpPr>
        <p:spPr>
          <a:xfrm>
            <a:off x="7909560" y="1783080"/>
            <a:ext cx="3730752" cy="4206240"/>
          </a:xfrm>
          <a:prstGeom prst="roundRect">
            <a:avLst>
              <a:gd name="adj" fmla="val 294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Heading Key takeaways"/>
          <p:cNvSpPr txBox="1"/>
          <p:nvPr/>
        </p:nvSpPr>
        <p:spPr>
          <a:xfrm>
            <a:off x="818388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Key takeaways</a:t>
            </a:r>
            <a:endParaRPr lang="en-US" sz="1800" dirty="0"/>
          </a:p>
        </p:txBody>
      </p:sp>
      <p:sp>
        <p:nvSpPr>
          <p:cNvPr id="7" name="Bullets"/>
          <p:cNvSpPr txBox="1"/>
          <p:nvPr/>
        </p:nvSpPr>
        <p:spPr>
          <a:xfrm>
            <a:off x="8183880" y="246888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Swift is the best-paid language ($130,801)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Python, C++ and JavaScript all exceed $110,000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SQL and PHP are at the bottom (~$84,700-$84,800), although SQL is one of the most used languages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PROGRAMMING LANGUAGE TRENDS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Rust and Go enter next year's top 10; PHP and PowerShell drop out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JavaScript, SQL and TypeScript lead both years; Rust and Go replace PHP and PowerShell in next year's top 10.</a:t>
            </a:r>
            <a:endParaRPr lang="en-US" sz="1600" dirty="0"/>
          </a:p>
        </p:txBody>
      </p:sp>
      <p:graphicFrame>
        <p:nvGraphicFramePr>
          <p:cNvPr id="5" name="Languages current chart" descr="Top 10 languages used this year"/>
          <p:cNvGraphicFramePr/>
          <p:nvPr/>
        </p:nvGraphicFramePr>
        <p:xfrm>
          <a:off x="548640" y="1828800"/>
          <a:ext cx="5440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Languages next chart" descr="Top 10 languages desired next year"/>
          <p:cNvGraphicFramePr/>
          <p:nvPr/>
        </p:nvGraphicFramePr>
        <p:xfrm>
          <a:off x="6199632" y="1828800"/>
          <a:ext cx="5440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PROGRAMMING LANGUAGE TRENDS · FINDINGS &amp; IMPLICATIONS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Web and data skills stay core; Rust and Go are the ones to watch</a:t>
            </a:r>
            <a:endParaRPr lang="en-US" sz="3000" dirty="0"/>
          </a:p>
        </p:txBody>
      </p:sp>
      <p:sp>
        <p:nvSpPr>
          <p:cNvPr id="4" name="Findings card"/>
          <p:cNvSpPr/>
          <p:nvPr/>
        </p:nvSpPr>
        <p:spPr>
          <a:xfrm>
            <a:off x="548640" y="169164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Implications card"/>
          <p:cNvSpPr/>
          <p:nvPr/>
        </p:nvSpPr>
        <p:spPr>
          <a:xfrm>
            <a:off x="6245352" y="169164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6" name="Heading Findings"/>
          <p:cNvSpPr txBox="1"/>
          <p:nvPr/>
        </p:nvSpPr>
        <p:spPr>
          <a:xfrm>
            <a:off x="822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Findings</a:t>
            </a:r>
            <a:endParaRPr lang="en-US" sz="1800" dirty="0"/>
          </a:p>
        </p:txBody>
      </p:sp>
      <p:sp>
        <p:nvSpPr>
          <p:cNvPr id="7" name="Heading Implications"/>
          <p:cNvSpPr txBox="1"/>
          <p:nvPr/>
        </p:nvSpPr>
        <p:spPr>
          <a:xfrm>
            <a:off x="651967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</a:rPr>
              <a:t>Implications</a:t>
            </a:r>
            <a:endParaRPr lang="en-US" sz="1800" dirty="0"/>
          </a:p>
        </p:txBody>
      </p:sp>
      <p:sp>
        <p:nvSpPr>
          <p:cNvPr id="8" name="Bullets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JavaScript is #1 in both years (14,943 used, 11,541 desired)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TypeScript moves up from 4th to 3rd place, overtaking HTML/CSS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Rust (5,597) and Go (5,661) enter the desired top 10; PHP and PowerShell leave it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Python stays 5th in both years</a:t>
            </a:r>
            <a:endParaRPr lang="en-US" sz="1500" dirty="0"/>
          </a:p>
        </p:txBody>
      </p:sp>
      <p:sp>
        <p:nvSpPr>
          <p:cNvPr id="9" name="Bullets"/>
          <p:cNvSpPr txBox="1"/>
          <p:nvPr/>
        </p:nvSpPr>
        <p:spPr>
          <a:xfrm>
            <a:off x="6519672" y="233172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Web skills (JavaScript/TypeScript) remain a safe core investment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SQL stays essential for any data-related role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Training in Rust and Go can anticipate growing demand for systems and cloud development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Legacy languages (PHP, PowerShell) are losing interest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DATABASE TRENDS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PostgreSQL widens its lead while Redis jumps to 2nd place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PostgreSQL leads both years with a growing gap; Redis jumps to 2nd place and Supabase enters next year's top 10.</a:t>
            </a:r>
            <a:endParaRPr lang="en-US" sz="1600" dirty="0"/>
          </a:p>
        </p:txBody>
      </p:sp>
      <p:graphicFrame>
        <p:nvGraphicFramePr>
          <p:cNvPr id="5" name="Databases current chart" descr="Top 10 databases used this year"/>
          <p:cNvGraphicFramePr/>
          <p:nvPr/>
        </p:nvGraphicFramePr>
        <p:xfrm>
          <a:off x="548640" y="1828800"/>
          <a:ext cx="5440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Databases next chart" descr="Top 10 databases desired next year"/>
          <p:cNvGraphicFramePr/>
          <p:nvPr/>
        </p:nvGraphicFramePr>
        <p:xfrm>
          <a:off x="6199632" y="1828800"/>
          <a:ext cx="54406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DATABASE TRENDS · FINDINGS &amp; IMPLICATIONS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PostgreSQL is the database skill to prioritize</a:t>
            </a:r>
            <a:endParaRPr lang="en-US" sz="3000" dirty="0"/>
          </a:p>
        </p:txBody>
      </p:sp>
      <p:sp>
        <p:nvSpPr>
          <p:cNvPr id="4" name="Findings card"/>
          <p:cNvSpPr/>
          <p:nvPr/>
        </p:nvSpPr>
        <p:spPr>
          <a:xfrm>
            <a:off x="548640" y="169164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Implications card"/>
          <p:cNvSpPr/>
          <p:nvPr/>
        </p:nvSpPr>
        <p:spPr>
          <a:xfrm>
            <a:off x="6245352" y="169164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6" name="Heading Findings"/>
          <p:cNvSpPr txBox="1"/>
          <p:nvPr/>
        </p:nvSpPr>
        <p:spPr>
          <a:xfrm>
            <a:off x="822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Findings</a:t>
            </a:r>
            <a:endParaRPr lang="en-US" sz="1800" dirty="0"/>
          </a:p>
        </p:txBody>
      </p:sp>
      <p:sp>
        <p:nvSpPr>
          <p:cNvPr id="7" name="Heading Implications"/>
          <p:cNvSpPr txBox="1"/>
          <p:nvPr/>
        </p:nvSpPr>
        <p:spPr>
          <a:xfrm>
            <a:off x="651967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</a:rPr>
              <a:t>Implications</a:t>
            </a:r>
            <a:endParaRPr lang="en-US" sz="1800" dirty="0"/>
          </a:p>
        </p:txBody>
      </p:sp>
      <p:sp>
        <p:nvSpPr>
          <p:cNvPr id="8" name="Bullets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PostgreSQL is #1 in both years and grows from 11,514 to 12,193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Redis rises from 6th to 2nd place (6,384)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MySQL drops from 2nd to 4th (8,556 to 6,204)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Supabase enters the top 10; Oracle leaves it</a:t>
            </a:r>
            <a:endParaRPr lang="en-US" sz="1500" dirty="0"/>
          </a:p>
        </p:txBody>
      </p:sp>
      <p:sp>
        <p:nvSpPr>
          <p:cNvPr id="9" name="Bullets"/>
          <p:cNvSpPr txBox="1"/>
          <p:nvPr/>
        </p:nvSpPr>
        <p:spPr>
          <a:xfrm>
            <a:off x="6519672" y="233172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PostgreSQL is the database skill to prioritize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Caching and in-memory stores (Redis) are becoming more relevant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Teams relying on MySQL or Oracle may need migration plans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</a:rPr>
              <a:t>Managed, developer-friendly services (Supabase) are gaining interest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DASHBOARD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60604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interactive view: today, tomorrow and who answered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776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Google Looker Studio dashboard: Current Technology Usage, Future Technology Trends and Demographics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DASHBOARD · TAB 1: CURRENT TECHNOLOGY USAGE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Today's stack: JavaScript, PostgreSQL, AWS and Node.js/React lead</a:t>
            </a:r>
            <a:endParaRPr lang="en-US" sz="30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600200"/>
            <a:ext cx="651052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8"/>
            </a:solidFill>
            <a:prstDash val="solid"/>
          </a:ln>
        </p:spPr>
      </p:sp>
      <p:pic>
        <p:nvPicPr>
          <p:cNvPr id="5" name="Dashboard screenshot" descr="Dashboard · Tab 1: Current Technology Usag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655064"/>
            <a:ext cx="6400800" cy="4493623"/>
          </a:xfrm>
          <a:prstGeom prst="rect">
            <a:avLst/>
          </a:prstGeom>
        </p:spPr>
      </p:pic>
      <p:sp>
        <p:nvSpPr>
          <p:cNvPr id="6" name="Insights card"/>
          <p:cNvSpPr/>
          <p:nvPr/>
        </p:nvSpPr>
        <p:spPr>
          <a:xfrm>
            <a:off x="7315200" y="1600200"/>
            <a:ext cx="4325112" cy="4599432"/>
          </a:xfrm>
          <a:prstGeom prst="roundRect">
            <a:avLst>
              <a:gd name="adj" fmla="val 253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Heading Key insights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Key insights</a:t>
            </a:r>
            <a:endParaRPr lang="en-US" sz="1800" dirty="0"/>
          </a:p>
        </p:txBody>
      </p:sp>
      <p:sp>
        <p:nvSpPr>
          <p:cNvPr id="8" name="Bullets"/>
          <p:cNvSpPr txBox="1"/>
          <p:nvPr/>
        </p:nvSpPr>
        <p:spPr>
          <a:xfrm>
            <a:off x="7589520" y="224028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JavaScript is the most used language (14,943), followed by SQL, HTML/CSS, TypeScript and Python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PostgreSQL leads the databases (11,514), ahead of MySQL and SQLite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AWS is the dominant cloud platform (10,871); Microsoft Azure and Google Cloud follow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Node.js (9,230) and React (8,999) far outpace every other web framework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DASHBOARD · TAB 2: FUTURE TECHNOLOGY TRENDS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Tomorrow's stack: TypeScript, Rust, Go and Redis gain ground</a:t>
            </a:r>
            <a:endParaRPr lang="en-US" sz="30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600200"/>
            <a:ext cx="651052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8"/>
            </a:solidFill>
            <a:prstDash val="solid"/>
          </a:ln>
        </p:spPr>
      </p:sp>
      <p:pic>
        <p:nvPicPr>
          <p:cNvPr id="5" name="Dashboard screenshot" descr="Dashboard · Tab 2: Future Technology Trend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655064"/>
            <a:ext cx="6400800" cy="4493623"/>
          </a:xfrm>
          <a:prstGeom prst="rect">
            <a:avLst/>
          </a:prstGeom>
        </p:spPr>
      </p:pic>
      <p:sp>
        <p:nvSpPr>
          <p:cNvPr id="6" name="Insights card"/>
          <p:cNvSpPr/>
          <p:nvPr/>
        </p:nvSpPr>
        <p:spPr>
          <a:xfrm>
            <a:off x="7315200" y="1600200"/>
            <a:ext cx="4325112" cy="4599432"/>
          </a:xfrm>
          <a:prstGeom prst="roundRect">
            <a:avLst>
              <a:gd name="adj" fmla="val 253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Heading Future trends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Future trends</a:t>
            </a:r>
            <a:endParaRPr lang="en-US" sz="1800" dirty="0"/>
          </a:p>
        </p:txBody>
      </p:sp>
      <p:sp>
        <p:nvSpPr>
          <p:cNvPr id="8" name="Bullets"/>
          <p:cNvSpPr txBox="1"/>
          <p:nvPr/>
        </p:nvSpPr>
        <p:spPr>
          <a:xfrm>
            <a:off x="7589520" y="224028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JavaScript, SQL and TypeScript stay on top; TypeScript overtakes HTML/CSS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Rust and Go enter the top 10, while PHP and PowerShell drop out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PostgreSQL widens its lead; Redis rises to 2nd place and Supabase appears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Cloudflare gains interest; Supabase replaces Heroku among platforms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React and Node.js remain the most wanted; jQuery leaves the top 10, FastAPI and Svelte enter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DASHBOARD · TAB 3: DEMOGRAPHICS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Respondents are young, highly educated and mostly from the US</a:t>
            </a:r>
            <a:endParaRPr lang="en-US" sz="3000" dirty="0"/>
          </a:p>
        </p:txBody>
      </p:sp>
      <p:sp>
        <p:nvSpPr>
          <p:cNvPr id="4" name="Screenshot frame"/>
          <p:cNvSpPr/>
          <p:nvPr/>
        </p:nvSpPr>
        <p:spPr>
          <a:xfrm>
            <a:off x="548640" y="1600200"/>
            <a:ext cx="6510528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8"/>
            </a:solidFill>
            <a:prstDash val="solid"/>
          </a:ln>
        </p:spPr>
      </p:sp>
      <p:pic>
        <p:nvPicPr>
          <p:cNvPr id="5" name="Dashboard screenshot" descr="Dashboard · Tab 3: Demographic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655064"/>
            <a:ext cx="6400800" cy="4493623"/>
          </a:xfrm>
          <a:prstGeom prst="rect">
            <a:avLst/>
          </a:prstGeom>
        </p:spPr>
      </p:pic>
      <p:sp>
        <p:nvSpPr>
          <p:cNvPr id="6" name="Insights card"/>
          <p:cNvSpPr/>
          <p:nvPr/>
        </p:nvSpPr>
        <p:spPr>
          <a:xfrm>
            <a:off x="7315200" y="1600200"/>
            <a:ext cx="4325112" cy="4599432"/>
          </a:xfrm>
          <a:prstGeom prst="roundRect">
            <a:avLst>
              <a:gd name="adj" fmla="val 253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Heading Demographic insights"/>
          <p:cNvSpPr txBox="1"/>
          <p:nvPr/>
        </p:nvSpPr>
        <p:spPr>
          <a:xfrm>
            <a:off x="7589520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Demographic insights</a:t>
            </a:r>
            <a:endParaRPr lang="en-US" sz="1800" dirty="0"/>
          </a:p>
        </p:txBody>
      </p:sp>
      <p:sp>
        <p:nvSpPr>
          <p:cNvPr id="8" name="Bullets"/>
          <p:cNvSpPr txBox="1"/>
          <p:nvPr/>
        </p:nvSpPr>
        <p:spPr>
          <a:xfrm>
            <a:off x="7589520" y="224028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Respondents are young: 25-34 year olds are 41.3%, and 85% are under 45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The United States has the most respondents (3,441), followed by Germany (1,339) and India (1,316)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Bachelor's degree is the most common education level (45.8%), then Master's (26.5%)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</a:rPr>
              <a:t>Bachelor's degrees lead in every adult age group; Master's degrees weigh more from age 35 (about 30%)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DISCUSSION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top of the stack is stable; change happens in the middle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Overall insights derived from the dashboards</a:t>
            </a:r>
            <a:endParaRPr lang="en-US" sz="1600" dirty="0"/>
          </a:p>
        </p:txBody>
      </p:sp>
      <p:sp>
        <p:nvSpPr>
          <p:cNvPr id="5" name="Discussion card Stable core"/>
          <p:cNvSpPr/>
          <p:nvPr/>
        </p:nvSpPr>
        <p:spPr>
          <a:xfrm>
            <a:off x="548640" y="19202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Stable core circle"/>
          <p:cNvSpPr/>
          <p:nvPr/>
        </p:nvSpPr>
        <p:spPr>
          <a:xfrm>
            <a:off x="822960" y="2194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Stable core icon" descr="Stable c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341961"/>
            <a:ext cx="272125" cy="272125"/>
          </a:xfrm>
          <a:prstGeom prst="rect">
            <a:avLst/>
          </a:prstGeom>
        </p:spPr>
      </p:pic>
      <p:sp>
        <p:nvSpPr>
          <p:cNvPr id="8" name="Heading Stable core"/>
          <p:cNvSpPr txBox="1"/>
          <p:nvPr/>
        </p:nvSpPr>
        <p:spPr>
          <a:xfrm>
            <a:off x="160020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Stable core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69748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The technology stack is stable at the top: JavaScript, SQL, PostgreSQL, AWS and React/Node.js lead in both current usage and future interest</a:t>
            </a:r>
            <a:endParaRPr lang="en-US" sz="1400" dirty="0"/>
          </a:p>
        </p:txBody>
      </p:sp>
      <p:sp>
        <p:nvSpPr>
          <p:cNvPr id="10" name="Discussion card Risers"/>
          <p:cNvSpPr/>
          <p:nvPr/>
        </p:nvSpPr>
        <p:spPr>
          <a:xfrm>
            <a:off x="6172200" y="19202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1" name="Risers circle"/>
          <p:cNvSpPr/>
          <p:nvPr/>
        </p:nvSpPr>
        <p:spPr>
          <a:xfrm>
            <a:off x="6446520" y="21945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Risers icon" descr="Ri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921" y="2341961"/>
            <a:ext cx="272125" cy="272125"/>
          </a:xfrm>
          <a:prstGeom prst="rect">
            <a:avLst/>
          </a:prstGeom>
        </p:spPr>
      </p:pic>
      <p:sp>
        <p:nvSpPr>
          <p:cNvPr id="13" name="Heading Risers"/>
          <p:cNvSpPr txBox="1"/>
          <p:nvPr/>
        </p:nvSpPr>
        <p:spPr>
          <a:xfrm>
            <a:off x="7223760" y="2286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Risers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9748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Change happens in the middle of the rankings: Rust, Go, Redis, Supabase, FastAPI and Svelte are gaining ground</a:t>
            </a:r>
            <a:endParaRPr lang="en-US" sz="1400" dirty="0"/>
          </a:p>
        </p:txBody>
      </p:sp>
      <p:sp>
        <p:nvSpPr>
          <p:cNvPr id="15" name="Discussion card Fading"/>
          <p:cNvSpPr/>
          <p:nvPr/>
        </p:nvSpPr>
        <p:spPr>
          <a:xfrm>
            <a:off x="548640" y="406908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Fading circle"/>
          <p:cNvSpPr/>
          <p:nvPr/>
        </p:nvSpPr>
        <p:spPr>
          <a:xfrm>
            <a:off x="822960" y="434340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Fading icon" descr="Fa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4490801"/>
            <a:ext cx="272125" cy="272125"/>
          </a:xfrm>
          <a:prstGeom prst="rect">
            <a:avLst/>
          </a:prstGeom>
        </p:spPr>
      </p:pic>
      <p:sp>
        <p:nvSpPr>
          <p:cNvPr id="18" name="Heading Fading"/>
          <p:cNvSpPr txBox="1"/>
          <p:nvPr/>
        </p:nvSpPr>
        <p:spPr>
          <a:xfrm>
            <a:off x="1600200" y="4434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Fading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600200" y="484632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Older technologies (PHP, PowerShell, Oracle, jQuery, Heroku) are losing interest</a:t>
            </a:r>
            <a:endParaRPr lang="en-US" sz="1400" dirty="0"/>
          </a:p>
        </p:txBody>
      </p:sp>
      <p:sp>
        <p:nvSpPr>
          <p:cNvPr id="20" name="Discussion card Caveat"/>
          <p:cNvSpPr/>
          <p:nvPr/>
        </p:nvSpPr>
        <p:spPr>
          <a:xfrm>
            <a:off x="6172200" y="406908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Caveat circle"/>
          <p:cNvSpPr/>
          <p:nvPr/>
        </p:nvSpPr>
        <p:spPr>
          <a:xfrm>
            <a:off x="6446520" y="434340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Caveat icon" descr="Cavea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3921" y="4490801"/>
            <a:ext cx="272125" cy="272125"/>
          </a:xfrm>
          <a:prstGeom prst="rect">
            <a:avLst/>
          </a:prstGeom>
        </p:spPr>
      </p:pic>
      <p:sp>
        <p:nvSpPr>
          <p:cNvPr id="23" name="Heading Caveat"/>
          <p:cNvSpPr txBox="1"/>
          <p:nvPr/>
        </p:nvSpPr>
        <p:spPr>
          <a:xfrm>
            <a:off x="7223760" y="4434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</a:rPr>
              <a:t>Caveat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223760" y="484632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The survey mainly reflects young, highly educated developers, mostly from the US and Europe, so results may not represent every market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OVERALL FINDINGS &amp; IMPLICATIONS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Combine a solid core with one emerging skill</a:t>
            </a:r>
            <a:endParaRPr lang="en-US" sz="3000" dirty="0"/>
          </a:p>
        </p:txBody>
      </p:sp>
      <p:sp>
        <p:nvSpPr>
          <p:cNvPr id="4" name="Heading Findings"/>
          <p:cNvSpPr txBox="1"/>
          <p:nvPr/>
        </p:nvSpPr>
        <p:spPr>
          <a:xfrm>
            <a:off x="54864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568"/>
                </a:solidFill>
              </a:rPr>
              <a:t>Findings</a:t>
            </a:r>
            <a:endParaRPr lang="en-US" sz="1400" dirty="0"/>
          </a:p>
        </p:txBody>
      </p:sp>
      <p:sp>
        <p:nvSpPr>
          <p:cNvPr id="5" name="Heading Implications"/>
          <p:cNvSpPr txBox="1"/>
          <p:nvPr/>
        </p:nvSpPr>
        <p:spPr>
          <a:xfrm>
            <a:off x="635508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</a:rPr>
              <a:t>Implications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548640" y="201168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116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Core skills are stable: JavaScript, SQL, Python, PostgreSQL and AWS stay at the top</a:t>
            </a:r>
            <a:endParaRPr lang="en-US" sz="1400" dirty="0"/>
          </a:p>
        </p:txBody>
      </p:sp>
      <p:pic>
        <p:nvPicPr>
          <p:cNvPr id="8" name="Arrow 1" descr="leads 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88" y="2331720"/>
            <a:ext cx="274320" cy="274320"/>
          </a:xfrm>
          <a:prstGeom prst="rect">
            <a:avLst/>
          </a:prstGeom>
        </p:spPr>
      </p:pic>
      <p:sp>
        <p:nvSpPr>
          <p:cNvPr id="9" name="Implication 1"/>
          <p:cNvSpPr/>
          <p:nvPr/>
        </p:nvSpPr>
        <p:spPr>
          <a:xfrm>
            <a:off x="6355080" y="2011680"/>
            <a:ext cx="5285232" cy="914400"/>
          </a:xfrm>
          <a:prstGeom prst="roundRect">
            <a:avLst>
              <a:gd name="adj" fmla="val 1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20116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Job seekers should combine a solid core (SQL, JavaScript/Python) with one emerging skill</a:t>
            </a:r>
            <a:endParaRPr lang="en-US" sz="1400" dirty="0"/>
          </a:p>
        </p:txBody>
      </p:sp>
      <p:sp>
        <p:nvSpPr>
          <p:cNvPr id="11" name="Finding 2"/>
          <p:cNvSpPr/>
          <p:nvPr/>
        </p:nvSpPr>
        <p:spPr>
          <a:xfrm>
            <a:off x="548640" y="306324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632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Modern alternatives grow: TypeScript, Rust, Go, Redis and Next.js gain ground</a:t>
            </a:r>
            <a:endParaRPr lang="en-US" sz="1400" dirty="0"/>
          </a:p>
        </p:txBody>
      </p:sp>
      <p:pic>
        <p:nvPicPr>
          <p:cNvPr id="13" name="Arrow 2" descr="leads 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3383280"/>
            <a:ext cx="274320" cy="274320"/>
          </a:xfrm>
          <a:prstGeom prst="rect">
            <a:avLst/>
          </a:prstGeom>
        </p:spPr>
      </p:pic>
      <p:sp>
        <p:nvSpPr>
          <p:cNvPr id="14" name="Implication 2"/>
          <p:cNvSpPr/>
          <p:nvPr/>
        </p:nvSpPr>
        <p:spPr>
          <a:xfrm>
            <a:off x="6355080" y="3063240"/>
            <a:ext cx="5285232" cy="914400"/>
          </a:xfrm>
          <a:prstGeom prst="roundRect">
            <a:avLst>
              <a:gd name="adj" fmla="val 1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306324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Companies should plan training on TypeScript, Rust/Go and cloud platforms</a:t>
            </a:r>
            <a:endParaRPr lang="en-US" sz="1400" dirty="0"/>
          </a:p>
        </p:txBody>
      </p:sp>
      <p:sp>
        <p:nvSpPr>
          <p:cNvPr id="16" name="Finding 3"/>
          <p:cNvSpPr/>
          <p:nvPr/>
        </p:nvSpPr>
        <p:spPr>
          <a:xfrm>
            <a:off x="548640" y="411480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7240" y="4114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Demand is concentrated geographically (Washington DC, Detroit, Seattle, New York)</a:t>
            </a:r>
            <a:endParaRPr lang="en-US" sz="1400" dirty="0"/>
          </a:p>
        </p:txBody>
      </p:sp>
      <p:pic>
        <p:nvPicPr>
          <p:cNvPr id="18" name="Arrow 3" descr="leads 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4434840"/>
            <a:ext cx="274320" cy="274320"/>
          </a:xfrm>
          <a:prstGeom prst="rect">
            <a:avLst/>
          </a:prstGeom>
        </p:spPr>
      </p:pic>
      <p:sp>
        <p:nvSpPr>
          <p:cNvPr id="19" name="Implication 3"/>
          <p:cNvSpPr/>
          <p:nvPr/>
        </p:nvSpPr>
        <p:spPr>
          <a:xfrm>
            <a:off x="6355080" y="4114800"/>
            <a:ext cx="5285232" cy="914400"/>
          </a:xfrm>
          <a:prstGeom prst="roundRect">
            <a:avLst>
              <a:gd name="adj" fmla="val 1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83680" y="41148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Recruiting efforts can focus on the cities with the most postings</a:t>
            </a:r>
            <a:endParaRPr lang="en-US" sz="1400" dirty="0"/>
          </a:p>
        </p:txBody>
      </p:sp>
      <p:sp>
        <p:nvSpPr>
          <p:cNvPr id="21" name="Finding 4"/>
          <p:cNvSpPr/>
          <p:nvPr/>
        </p:nvSpPr>
        <p:spPr>
          <a:xfrm>
            <a:off x="548640" y="516636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1663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Salary does not follow popularity: Swift pays the most, SQL and PHP the least</a:t>
            </a:r>
            <a:endParaRPr lang="en-US" sz="1400" dirty="0"/>
          </a:p>
        </p:txBody>
      </p:sp>
      <p:pic>
        <p:nvPicPr>
          <p:cNvPr id="23" name="Arrow 4" descr="leads 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5486400"/>
            <a:ext cx="274320" cy="274320"/>
          </a:xfrm>
          <a:prstGeom prst="rect">
            <a:avLst/>
          </a:prstGeom>
        </p:spPr>
      </p:pic>
      <p:sp>
        <p:nvSpPr>
          <p:cNvPr id="24" name="Implication 4"/>
          <p:cNvSpPr/>
          <p:nvPr/>
        </p:nvSpPr>
        <p:spPr>
          <a:xfrm>
            <a:off x="6355080" y="5166360"/>
            <a:ext cx="5285232" cy="914400"/>
          </a:xfrm>
          <a:prstGeom prst="roundRect">
            <a:avLst>
              <a:gd name="adj" fmla="val 12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583680" y="516636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Niche skills such as Swift can command a salary premium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CONCLUSION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Learn the stable core, watch the risers, follow the market</a:t>
            </a:r>
            <a:endParaRPr lang="en-US" sz="3000" dirty="0"/>
          </a:p>
        </p:txBody>
      </p:sp>
      <p:sp>
        <p:nvSpPr>
          <p:cNvPr id="4" name="Conclusion card 1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Conclusion 1 circle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Conclusion 1 icon" descr="Conclusi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159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</a:rPr>
              <a:t>JavaScript, SQL and PostgreSQL are the most widely used technologies and remain the most desired</a:t>
            </a:r>
            <a:endParaRPr lang="en-US" sz="1600" dirty="0"/>
          </a:p>
        </p:txBody>
      </p:sp>
      <p:sp>
        <p:nvSpPr>
          <p:cNvPr id="8" name="Conclusion card 2"/>
          <p:cNvSpPr/>
          <p:nvPr/>
        </p:nvSpPr>
        <p:spPr>
          <a:xfrm>
            <a:off x="617220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Conclusion 2 circle"/>
          <p:cNvSpPr/>
          <p:nvPr/>
        </p:nvSpPr>
        <p:spPr>
          <a:xfrm>
            <a:off x="6446520" y="201168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Conclusion 2 icon" descr="Conclusi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3921" y="2159081"/>
            <a:ext cx="272125" cy="27212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2697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</a:rPr>
              <a:t>Rust, Go, TypeScript and Redis are the main growing technologies for next year</a:t>
            </a:r>
            <a:endParaRPr lang="en-US" sz="1600" dirty="0"/>
          </a:p>
        </p:txBody>
      </p:sp>
      <p:sp>
        <p:nvSpPr>
          <p:cNvPr id="12" name="Conclusion card 3"/>
          <p:cNvSpPr/>
          <p:nvPr/>
        </p:nvSpPr>
        <p:spPr>
          <a:xfrm>
            <a:off x="548640" y="39776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Conclusion 3 circle"/>
          <p:cNvSpPr/>
          <p:nvPr/>
        </p:nvSpPr>
        <p:spPr>
          <a:xfrm>
            <a:off x="822960" y="42519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Conclusion 3 icon" descr="Conclusi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4399361"/>
            <a:ext cx="272125" cy="27212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2296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</a:rPr>
              <a:t>AWS, Azure and Google Cloud dominate cloud platforms; React and Node.js dominate web frameworks</a:t>
            </a:r>
            <a:endParaRPr lang="en-US" sz="1600" dirty="0"/>
          </a:p>
        </p:txBody>
      </p:sp>
      <p:sp>
        <p:nvSpPr>
          <p:cNvPr id="16" name="Conclusion card 4"/>
          <p:cNvSpPr/>
          <p:nvPr/>
        </p:nvSpPr>
        <p:spPr>
          <a:xfrm>
            <a:off x="6172200" y="39776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Conclusion 4 circle"/>
          <p:cNvSpPr/>
          <p:nvPr/>
        </p:nvSpPr>
        <p:spPr>
          <a:xfrm>
            <a:off x="6446520" y="4251960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Conclusion 4 icon" descr="Conclusi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3921" y="4399361"/>
            <a:ext cx="272125" cy="27212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46520" y="49377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</a:rPr>
              <a:t>Job opportunities and salaries vary strongly by location and language: monitoring them helps target skills and recruiting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Respondents come from 161 countries, led by the United States</a:t>
            </a:r>
            <a:endParaRPr lang="en-US" sz="3000" dirty="0"/>
          </a:p>
        </p:txBody>
      </p:sp>
      <p:graphicFrame>
        <p:nvGraphicFramePr>
          <p:cNvPr id="4" name="Countries chart" descr="Top 10 countries by respondents"/>
          <p:cNvGraphicFramePr/>
          <p:nvPr/>
        </p:nvGraphicFramePr>
        <p:xfrm>
          <a:off x="548640" y="1600200"/>
          <a:ext cx="749808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 card"/>
          <p:cNvSpPr/>
          <p:nvPr/>
        </p:nvSpPr>
        <p:spPr>
          <a:xfrm>
            <a:off x="8366760" y="1783080"/>
            <a:ext cx="3273552" cy="2103120"/>
          </a:xfrm>
          <a:prstGeom prst="roundRect">
            <a:avLst>
              <a:gd name="adj" fmla="val 52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92024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</a:rPr>
              <a:t>3,441</a:t>
            </a:r>
            <a:endParaRPr lang="en-US" sz="4000" dirty="0"/>
          </a:p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respondents from the United States, more than Germany (1,339) and India (1,316) together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Median pay rises with age, peaking at about $110K at 55-64</a:t>
            </a:r>
            <a:endParaRPr lang="en-US" sz="30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Median yearly compensation (USD) by age group · Python (pandas), notebooks 16-17</a:t>
            </a:r>
            <a:endParaRPr lang="en-US" sz="1600" dirty="0"/>
          </a:p>
        </p:txBody>
      </p:sp>
      <p:graphicFrame>
        <p:nvGraphicFramePr>
          <p:cNvPr id="5" name="Pay by age chart" descr="Line chart of median compensation by age group"/>
          <p:cNvGraphicFramePr/>
          <p:nvPr/>
        </p:nvGraphicFramePr>
        <p:xfrm>
          <a:off x="548640" y="1828800"/>
          <a:ext cx="74980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tat card"/>
          <p:cNvSpPr/>
          <p:nvPr/>
        </p:nvSpPr>
        <p:spPr>
          <a:xfrm>
            <a:off x="8366760" y="1920240"/>
            <a:ext cx="3273552" cy="18288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210312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</a:rPr>
              <a:t>~$25K → ~$110K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Median pay rises steadily with age, from about $25K (18-24) to a peak of about $110K (55-64)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US developers earn 8.5x the median pay of developers in India</a:t>
            </a:r>
            <a:endParaRPr lang="en-US" sz="3000" dirty="0"/>
          </a:p>
        </p:txBody>
      </p:sp>
      <p:graphicFrame>
        <p:nvGraphicFramePr>
          <p:cNvPr id="4" name="Pay by country chart" descr="Median compensation by country"/>
          <p:cNvGraphicFramePr/>
          <p:nvPr/>
        </p:nvGraphicFramePr>
        <p:xfrm>
          <a:off x="548640" y="160020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PI $65,000"/>
          <p:cNvSpPr/>
          <p:nvPr/>
        </p:nvSpPr>
        <p:spPr>
          <a:xfrm>
            <a:off x="8001000" y="1691640"/>
            <a:ext cx="1773936" cy="1920240"/>
          </a:xfrm>
          <a:prstGeom prst="roundRect">
            <a:avLst>
              <a:gd name="adj" fmla="val 618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828800"/>
            <a:ext cx="15361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</a:rPr>
              <a:t>$65,000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</a:rPr>
              <a:t>Overall median yearly compensation (respondents reporting pay)</a:t>
            </a:r>
            <a:endParaRPr lang="en-US" sz="2200" dirty="0"/>
          </a:p>
        </p:txBody>
      </p:sp>
      <p:sp>
        <p:nvSpPr>
          <p:cNvPr id="7" name="KPI $69,814"/>
          <p:cNvSpPr/>
          <p:nvPr/>
        </p:nvSpPr>
        <p:spPr>
          <a:xfrm>
            <a:off x="9866376" y="1691640"/>
            <a:ext cx="1773936" cy="1920240"/>
          </a:xfrm>
          <a:prstGeom prst="roundRect">
            <a:avLst>
              <a:gd name="adj" fmla="val 618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03536" y="1828800"/>
            <a:ext cx="15361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</a:rPr>
              <a:t>$69,814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</a:rPr>
              <a:t>Median yearly compensation of full-time employees</a:t>
            </a:r>
            <a:endParaRPr lang="en-US" sz="2200" dirty="0"/>
          </a:p>
        </p:txBody>
      </p:sp>
      <p:sp>
        <p:nvSpPr>
          <p:cNvPr id="9" name="KPI r = 0.41"/>
          <p:cNvSpPr/>
          <p:nvPr/>
        </p:nvSpPr>
        <p:spPr>
          <a:xfrm>
            <a:off x="8001000" y="3794760"/>
            <a:ext cx="1773936" cy="1920240"/>
          </a:xfrm>
          <a:prstGeom prst="roundRect">
            <a:avLst>
              <a:gd name="adj" fmla="val 618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3931920"/>
            <a:ext cx="15361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</a:rPr>
              <a:t>r = 0.41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</a:rPr>
              <a:t>Correlation between compensation and work experience (outliers removed)</a:t>
            </a:r>
            <a:endParaRPr lang="en-US" sz="2200" dirty="0"/>
          </a:p>
        </p:txBody>
      </p:sp>
      <p:sp>
        <p:nvSpPr>
          <p:cNvPr id="11" name="KPI 8.5x"/>
          <p:cNvSpPr/>
          <p:nvPr/>
        </p:nvSpPr>
        <p:spPr>
          <a:xfrm>
            <a:off x="9866376" y="3794760"/>
            <a:ext cx="1773936" cy="1920240"/>
          </a:xfrm>
          <a:prstGeom prst="roundRect">
            <a:avLst>
              <a:gd name="adj" fmla="val 6186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003536" y="3931920"/>
            <a:ext cx="153619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</a:rPr>
              <a:t>8.5x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14213D"/>
                </a:solidFill>
              </a:rPr>
              <a:t>Gap between US and India median compensation</a:t>
            </a:r>
            <a:endParaRPr lang="en-US" sz="2200" dirty="0"/>
          </a:p>
        </p:txBody>
      </p:sp>
      <p:sp>
        <p:nvSpPr>
          <p:cNvPr id="13" name="Source note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</a:rPr>
              <a:t>Source: Stack Overflow Developer Survey, ConvertedCompYearly (respondents who reported compensation); exploratory analysis in Python (pandas, Seaborn)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veloper Trends">
  <a:themeElements>
    <a:clrScheme name="Developer Trends">
      <a:dk1>
        <a:srgbClr val="14213D"/>
      </a:dk1>
      <a:lt1>
        <a:srgbClr val="FFFFFF"/>
      </a:lt1>
      <a:dk2>
        <a:srgbClr val="4A5568"/>
      </a:dk2>
      <a:lt2>
        <a:srgbClr val="F2F5FA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4A3AA7"/>
      </a:accent5>
      <a:accent6>
        <a:srgbClr val="E34948"/>
      </a:accent6>
      <a:hlink>
        <a:srgbClr val="2A78D6"/>
      </a:hlink>
      <a:folHlink>
        <a:srgbClr val="4A3AA7"/>
      </a:folHlink>
    </a:clrScheme>
    <a:fontScheme name="Developer Trend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Developer Technology Trends: Current Usage and Future Demand</dc:title>
  <dc:subject>IBM Data Analyst Professional Certificate - Capstone</dc:subject>
  <dc:creator>Vincenzo Ambrosino</dc:creator>
  <cp:lastModifiedBy>Vincenzo Ambrosino</cp:lastModifiedBy>
  <cp:revision>1</cp:revision>
  <dcterms:created xsi:type="dcterms:W3CDTF">2026-10-07T14:49:03Z</dcterms:created>
  <dcterms:modified xsi:type="dcterms:W3CDTF">2026-10-07T14:49:03Z</dcterms:modified>
</cp:coreProperties>
</file>